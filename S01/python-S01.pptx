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8" r:id="rId10"/>
    <p:sldId id="267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5" autoAdjust="0"/>
    <p:restoredTop sz="94660"/>
  </p:normalViewPr>
  <p:slideViewPr>
    <p:cSldViewPr snapToGrid="0">
      <p:cViewPr varScale="1">
        <p:scale>
          <a:sx n="85" d="100"/>
          <a:sy n="85" d="100"/>
        </p:scale>
        <p:origin x="48" y="1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7A3A2-ECA8-4476-8799-B477369250BE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89485-DE94-4435-9899-A1C4B6015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601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7A3A2-ECA8-4476-8799-B477369250BE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89485-DE94-4435-9899-A1C4B6015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249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7A3A2-ECA8-4476-8799-B477369250BE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89485-DE94-4435-9899-A1C4B6015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145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7A3A2-ECA8-4476-8799-B477369250BE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89485-DE94-4435-9899-A1C4B6015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20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7A3A2-ECA8-4476-8799-B477369250BE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89485-DE94-4435-9899-A1C4B6015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223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7A3A2-ECA8-4476-8799-B477369250BE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89485-DE94-4435-9899-A1C4B6015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764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7A3A2-ECA8-4476-8799-B477369250BE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89485-DE94-4435-9899-A1C4B6015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071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7A3A2-ECA8-4476-8799-B477369250BE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89485-DE94-4435-9899-A1C4B6015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961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7A3A2-ECA8-4476-8799-B477369250BE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89485-DE94-4435-9899-A1C4B6015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540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7A3A2-ECA8-4476-8799-B477369250BE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89485-DE94-4435-9899-A1C4B6015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960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7A3A2-ECA8-4476-8799-B477369250BE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89485-DE94-4435-9899-A1C4B6015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3417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7A3A2-ECA8-4476-8799-B477369250BE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89485-DE94-4435-9899-A1C4B6015D4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159026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7A3A2-ECA8-4476-8799-B477369250BE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89485-DE94-4435-9899-A1C4B6015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9141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7A3A2-ECA8-4476-8799-B477369250BE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89485-DE94-4435-9899-A1C4B6015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1453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7A3A2-ECA8-4476-8799-B477369250BE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89485-DE94-4435-9899-A1C4B6015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9092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7A3A2-ECA8-4476-8799-B477369250BE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89485-DE94-4435-9899-A1C4B6015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5100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7A3A2-ECA8-4476-8799-B477369250BE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89485-DE94-4435-9899-A1C4B6015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435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1B47A3A2-ECA8-4476-8799-B477369250BE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1C989485-DE94-4435-9899-A1C4B6015D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358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://45.90.72.56:3007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DECB1-E27A-DCCA-29F1-06C948F894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2240764"/>
            <a:ext cx="9440034" cy="1828801"/>
          </a:xfrm>
        </p:spPr>
        <p:txBody>
          <a:bodyPr>
            <a:normAutofit/>
          </a:bodyPr>
          <a:lstStyle/>
          <a:p>
            <a:pPr rtl="1"/>
            <a:r>
              <a:rPr lang="fa-IR" sz="6600" b="1" dirty="0">
                <a:latin typeface="IRANSans" panose="02040503050201020203" pitchFamily="18" charset="-78"/>
                <a:cs typeface="IRANSans" panose="02040503050201020203" pitchFamily="18" charset="-78"/>
              </a:rPr>
              <a:t>برنامه نویسی به زبان پایتون</a:t>
            </a:r>
            <a:endParaRPr lang="en-US" sz="6600" b="1" dirty="0">
              <a:solidFill>
                <a:srgbClr val="92D050"/>
              </a:solidFill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2BE043-FD41-F519-FF34-77BB75E81D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4069563"/>
            <a:ext cx="9440034" cy="1049867"/>
          </a:xfrm>
        </p:spPr>
        <p:txBody>
          <a:bodyPr>
            <a:normAutofit/>
          </a:bodyPr>
          <a:lstStyle/>
          <a:p>
            <a:r>
              <a:rPr lang="fa-IR" sz="2800" b="1" dirty="0">
                <a:solidFill>
                  <a:srgbClr val="92D050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فصل اول</a:t>
            </a:r>
            <a:endParaRPr lang="en-US" sz="2800" b="1" dirty="0">
              <a:solidFill>
                <a:srgbClr val="92D050"/>
              </a:solidFill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530A84-1DF8-073B-20E4-AAF0DA1D3ECC}"/>
              </a:ext>
            </a:extLst>
          </p:cNvPr>
          <p:cNvSpPr txBox="1"/>
          <p:nvPr/>
        </p:nvSpPr>
        <p:spPr>
          <a:xfrm>
            <a:off x="1381272" y="5231255"/>
            <a:ext cx="942945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fa-IR" sz="2000" dirty="0">
                <a:latin typeface="IRANSans" panose="02040503050201020203" pitchFamily="18" charset="-78"/>
                <a:cs typeface="IRANSans" panose="02040503050201020203" pitchFamily="18" charset="-78"/>
              </a:rPr>
              <a:t>کانال تلگرام: </a:t>
            </a:r>
            <a:r>
              <a:rPr lang="en-US" sz="2000" dirty="0">
                <a:solidFill>
                  <a:srgbClr val="00B0F0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@att_python</a:t>
            </a:r>
          </a:p>
          <a:p>
            <a:pPr algn="r" rtl="1">
              <a:lnSpc>
                <a:spcPct val="150000"/>
              </a:lnSpc>
            </a:pPr>
            <a:r>
              <a:rPr lang="fa-IR" sz="2400" dirty="0">
                <a:latin typeface="IRANSans" panose="02040503050201020203" pitchFamily="18" charset="-78"/>
                <a:cs typeface="IRANSans" panose="02040503050201020203" pitchFamily="18" charset="-78"/>
              </a:rPr>
              <a:t>شماره تماس: 09336448037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2D6712-3E74-EF91-A874-D79782A60B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7531" y="452272"/>
            <a:ext cx="2516938" cy="2516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894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57219-F361-5D1A-6CAB-979AD853E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ANSans" panose="02040503050201020203" pitchFamily="18" charset="-78"/>
                <a:cs typeface="IRANSans" panose="02040503050201020203" pitchFamily="18" charset="-78"/>
              </a:rPr>
              <a:t>برنامه‌نویسی یعنی چه؟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BD0E5-709D-A8A8-DC61-5233431BDC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fa-IR" dirty="0">
                <a:latin typeface="IRANSans" panose="02040503050201020203" pitchFamily="18" charset="-78"/>
                <a:cs typeface="IRANSans" panose="02040503050201020203" pitchFamily="18" charset="-78"/>
              </a:rPr>
              <a:t>نوشتن دستور برای کامپیوتر</a:t>
            </a:r>
            <a:endParaRPr lang="en-US" dirty="0">
              <a:latin typeface="IRANSans" panose="02040503050201020203" pitchFamily="18" charset="-78"/>
              <a:cs typeface="IRANSans" panose="02040503050201020203" pitchFamily="18" charset="-78"/>
            </a:endParaRPr>
          </a:p>
          <a:p>
            <a:pPr marL="36900" indent="0" algn="r" rtl="1">
              <a:buNone/>
            </a:pPr>
            <a:r>
              <a:rPr lang="fa-IR" dirty="0">
                <a:latin typeface="IRANSans" panose="02040503050201020203" pitchFamily="18" charset="-78"/>
                <a:cs typeface="IRANSans" panose="02040503050201020203" pitchFamily="18" charset="-78"/>
              </a:rPr>
              <a:t>هدف برنامه‌نویسی: </a:t>
            </a:r>
          </a:p>
          <a:p>
            <a:pPr algn="r" rtl="1"/>
            <a:r>
              <a:rPr lang="fa-IR" dirty="0">
                <a:latin typeface="IRANSans" panose="02040503050201020203" pitchFamily="18" charset="-78"/>
                <a:cs typeface="IRANSans" panose="02040503050201020203" pitchFamily="18" charset="-78"/>
              </a:rPr>
              <a:t>حل مسئله، خودکارسازی کارها، ساخت نرم‌افزار</a:t>
            </a:r>
            <a:endParaRPr lang="en-US" dirty="0">
              <a:latin typeface="IRANSans" panose="02040503050201020203" pitchFamily="18" charset="-78"/>
              <a:cs typeface="IRANSans" panose="02040503050201020203" pitchFamily="18" charset="-78"/>
            </a:endParaRPr>
          </a:p>
          <a:p>
            <a:pPr algn="r" rtl="1"/>
            <a:endParaRPr lang="en-US" dirty="0"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5C54F1-DBED-9D25-95FC-9A66C0D063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212" y="1523686"/>
            <a:ext cx="2591736" cy="5087481"/>
          </a:xfrm>
          <a:prstGeom prst="rect">
            <a:avLst/>
          </a:prstGeom>
        </p:spPr>
      </p:pic>
      <p:pic>
        <p:nvPicPr>
          <p:cNvPr id="1026" name="Picture 2" descr="استعلام و پرداخت عوارض و بدهی خودرو با اپلیکیشن راننده اسنپ">
            <a:extLst>
              <a:ext uri="{FF2B5EF4-FFF2-40B4-BE49-F238E27FC236}">
                <a16:creationId xmlns:a16="http://schemas.microsoft.com/office/drawing/2014/main" id="{F1DC730A-B85C-CFA5-9BF4-FA9625E2AA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531" y="1651998"/>
            <a:ext cx="2308077" cy="4830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BBA1B7E-C2BA-6C54-8CBF-78EE422C9C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98" y="3371183"/>
            <a:ext cx="4943426" cy="2781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525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FE7AA-E1BD-51A4-31CC-B7B038E52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CBDFA-CF83-23CC-EAA7-F38EF91A3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ANSans" panose="02040503050201020203" pitchFamily="18" charset="-78"/>
                <a:cs typeface="IRANSans" panose="02040503050201020203" pitchFamily="18" charset="-78"/>
              </a:rPr>
              <a:t>زبان‌های برنامه‌نویسی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E0305-0A1F-0CCD-06DC-9DB37D8CB5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fa-IR" sz="2400" dirty="0">
                <a:latin typeface="IRANSans" panose="02040503050201020203" pitchFamily="18" charset="-78"/>
                <a:cs typeface="IRANSans" panose="02040503050201020203" pitchFamily="18" charset="-78"/>
              </a:rPr>
              <a:t>تعریف: زبان برنامه‌نویسی ابزاری است که به ما اجازه می‌دهد با کامپیوتر به‌صورت ساختارمند و قابل‌فهم صحبت کنیم.</a:t>
            </a:r>
          </a:p>
          <a:p>
            <a:pPr algn="r" rtl="1"/>
            <a:endParaRPr lang="fa-IR" dirty="0">
              <a:latin typeface="IRANSans" panose="02040503050201020203" pitchFamily="18" charset="-78"/>
              <a:cs typeface="IRANSans" panose="02040503050201020203" pitchFamily="18" charset="-78"/>
            </a:endParaRPr>
          </a:p>
          <a:p>
            <a:pPr algn="r" rtl="1"/>
            <a:r>
              <a:rPr lang="fa-IR" dirty="0">
                <a:latin typeface="IRANSans" panose="02040503050201020203" pitchFamily="18" charset="-78"/>
                <a:cs typeface="IRANSans" panose="02040503050201020203" pitchFamily="18" charset="-78"/>
              </a:rPr>
              <a:t>انواع:</a:t>
            </a:r>
          </a:p>
          <a:p>
            <a:pPr lvl="1" algn="r" rtl="1"/>
            <a:r>
              <a:rPr lang="fa-IR" dirty="0">
                <a:latin typeface="IRANSans" panose="02040503050201020203" pitchFamily="18" charset="-78"/>
                <a:cs typeface="IRANSans" panose="02040503050201020203" pitchFamily="18" charset="-78"/>
              </a:rPr>
              <a:t>زبان‌های سطح بالا </a:t>
            </a:r>
            <a:r>
              <a:rPr lang="en-US" dirty="0">
                <a:latin typeface="IRANSans" panose="02040503050201020203" pitchFamily="18" charset="-78"/>
                <a:cs typeface="IRANSans" panose="02040503050201020203" pitchFamily="18" charset="-78"/>
              </a:rPr>
              <a:t> Python, Java, C#</a:t>
            </a:r>
            <a:endParaRPr lang="fa-IR" dirty="0">
              <a:latin typeface="IRANSans" panose="02040503050201020203" pitchFamily="18" charset="-78"/>
              <a:cs typeface="IRANSans" panose="02040503050201020203" pitchFamily="18" charset="-78"/>
            </a:endParaRPr>
          </a:p>
          <a:p>
            <a:pPr lvl="1" algn="r" rtl="1"/>
            <a:r>
              <a:rPr lang="fa-IR" dirty="0">
                <a:latin typeface="IRANSans" panose="02040503050201020203" pitchFamily="18" charset="-78"/>
                <a:cs typeface="IRANSans" panose="02040503050201020203" pitchFamily="18" charset="-78"/>
              </a:rPr>
              <a:t>زبان‌های سطح پایین </a:t>
            </a:r>
            <a:r>
              <a:rPr lang="en-US" dirty="0">
                <a:latin typeface="IRANSans" panose="02040503050201020203" pitchFamily="18" charset="-78"/>
                <a:cs typeface="IRANSans" panose="02040503050201020203" pitchFamily="18" charset="-78"/>
              </a:rPr>
              <a:t>Assembly, C</a:t>
            </a:r>
            <a:endParaRPr lang="fa-IR" dirty="0">
              <a:latin typeface="IRANSans" panose="02040503050201020203" pitchFamily="18" charset="-78"/>
              <a:cs typeface="IRANSans" panose="02040503050201020203" pitchFamily="18" charset="-78"/>
            </a:endParaRPr>
          </a:p>
          <a:p>
            <a:pPr lvl="1" algn="r" rtl="1"/>
            <a:endParaRPr lang="fa-IR" dirty="0"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pic>
        <p:nvPicPr>
          <p:cNvPr id="9219" name="Picture 3" descr="50 Best Programming Languages: 2025 Guide">
            <a:extLst>
              <a:ext uri="{FF2B5EF4-FFF2-40B4-BE49-F238E27FC236}">
                <a16:creationId xmlns:a16="http://schemas.microsoft.com/office/drawing/2014/main" id="{3DD20BA9-2D61-3D57-16C2-FA2EE434DD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795" y="2778305"/>
            <a:ext cx="5757125" cy="3012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3307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31CEF-75C0-C449-72AF-558209037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6D213-F1B9-DF33-6E4A-BCB8988C4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ANSans" panose="02040503050201020203" pitchFamily="18" charset="-78"/>
                <a:cs typeface="IRANSans" panose="02040503050201020203" pitchFamily="18" charset="-78"/>
              </a:rPr>
              <a:t>چرا پایتون؟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BEE77-4F82-76B9-847D-50BC988068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fa-IR" dirty="0">
                <a:latin typeface="IRANSans" panose="02040503050201020203" pitchFamily="18" charset="-78"/>
                <a:cs typeface="IRANSans" panose="02040503050201020203" pitchFamily="18" charset="-78"/>
              </a:rPr>
              <a:t>یادگیری آسان و سینتکس (دستور زبان) خوانا</a:t>
            </a:r>
            <a:endParaRPr lang="en-US" dirty="0">
              <a:latin typeface="IRANSans" panose="02040503050201020203" pitchFamily="18" charset="-78"/>
              <a:cs typeface="IRANSans" panose="02040503050201020203" pitchFamily="18" charset="-78"/>
            </a:endParaRPr>
          </a:p>
          <a:p>
            <a:pPr algn="r" rtl="1"/>
            <a:r>
              <a:rPr lang="fa-IR" dirty="0">
                <a:latin typeface="IRANSans" panose="02040503050201020203" pitchFamily="18" charset="-78"/>
                <a:cs typeface="IRANSans" panose="02040503050201020203" pitchFamily="18" charset="-78"/>
              </a:rPr>
              <a:t>جامعه کاربری و منابع آموزشی بسیار گسترده</a:t>
            </a:r>
            <a:endParaRPr lang="en-US" dirty="0">
              <a:latin typeface="IRANSans" panose="02040503050201020203" pitchFamily="18" charset="-78"/>
              <a:cs typeface="IRANSans" panose="02040503050201020203" pitchFamily="18" charset="-78"/>
            </a:endParaRPr>
          </a:p>
          <a:p>
            <a:pPr algn="r" rtl="1"/>
            <a:r>
              <a:rPr lang="fa-IR" dirty="0">
                <a:latin typeface="IRANSans" panose="02040503050201020203" pitchFamily="18" charset="-78"/>
                <a:cs typeface="IRANSans" panose="02040503050201020203" pitchFamily="18" charset="-78"/>
              </a:rPr>
              <a:t>کتابخانه‌ها و فریم‌ورک‌های آماده برای کاربردهای مختلف</a:t>
            </a:r>
            <a:endParaRPr lang="en-US" dirty="0">
              <a:latin typeface="IRANSans" panose="02040503050201020203" pitchFamily="18" charset="-78"/>
              <a:cs typeface="IRANSans" panose="02040503050201020203" pitchFamily="18" charset="-78"/>
            </a:endParaRPr>
          </a:p>
          <a:p>
            <a:pPr algn="r" rtl="1"/>
            <a:r>
              <a:rPr lang="fa-IR" b="1" dirty="0">
                <a:latin typeface="IRANSans" panose="02040503050201020203" pitchFamily="18" charset="-78"/>
                <a:cs typeface="IRANSans" panose="02040503050201020203" pitchFamily="18" charset="-78"/>
              </a:rPr>
              <a:t>کاربردهای مهم پایتون:</a:t>
            </a:r>
            <a:endParaRPr lang="en-US" b="1" dirty="0">
              <a:latin typeface="IRANSans" panose="02040503050201020203" pitchFamily="18" charset="-78"/>
              <a:cs typeface="IRANSans" panose="02040503050201020203" pitchFamily="18" charset="-78"/>
            </a:endParaRPr>
          </a:p>
          <a:p>
            <a:pPr lvl="1" algn="r" rtl="1"/>
            <a:r>
              <a:rPr lang="fa-IR" dirty="0">
                <a:latin typeface="IRANSans" panose="02040503050201020203" pitchFamily="18" charset="-78"/>
                <a:cs typeface="IRANSans" panose="02040503050201020203" pitchFamily="18" charset="-78"/>
              </a:rPr>
              <a:t>هوش مصنوعی و یادگیری ماشین</a:t>
            </a:r>
            <a:endParaRPr lang="en-US" dirty="0">
              <a:latin typeface="IRANSans" panose="02040503050201020203" pitchFamily="18" charset="-78"/>
              <a:cs typeface="IRANSans" panose="02040503050201020203" pitchFamily="18" charset="-78"/>
            </a:endParaRPr>
          </a:p>
          <a:p>
            <a:pPr lvl="1" algn="r" rtl="1"/>
            <a:r>
              <a:rPr lang="fa-IR" dirty="0">
                <a:latin typeface="IRANSans" panose="02040503050201020203" pitchFamily="18" charset="-78"/>
                <a:cs typeface="IRANSans" panose="02040503050201020203" pitchFamily="18" charset="-78"/>
              </a:rPr>
              <a:t>تحلیل و پردازش داده‌ها</a:t>
            </a:r>
            <a:endParaRPr lang="en-US" dirty="0">
              <a:latin typeface="IRANSans" panose="02040503050201020203" pitchFamily="18" charset="-78"/>
              <a:cs typeface="IRANSans" panose="02040503050201020203" pitchFamily="18" charset="-78"/>
            </a:endParaRPr>
          </a:p>
          <a:p>
            <a:pPr lvl="1" algn="r" rtl="1"/>
            <a:r>
              <a:rPr lang="fa-IR" dirty="0">
                <a:latin typeface="IRANSans" panose="02040503050201020203" pitchFamily="18" charset="-78"/>
                <a:cs typeface="IRANSans" panose="02040503050201020203" pitchFamily="18" charset="-78"/>
              </a:rPr>
              <a:t>توسعه وب </a:t>
            </a:r>
            <a:r>
              <a:rPr lang="en-US" dirty="0">
                <a:latin typeface="IRANSans" panose="02040503050201020203" pitchFamily="18" charset="-78"/>
                <a:cs typeface="IRANSans" panose="02040503050201020203" pitchFamily="18" charset="-78"/>
              </a:rPr>
              <a:t>Django, Flask</a:t>
            </a:r>
          </a:p>
          <a:p>
            <a:pPr lvl="1" algn="r" rtl="1"/>
            <a:r>
              <a:rPr lang="fa-IR" dirty="0">
                <a:latin typeface="IRANSans" panose="02040503050201020203" pitchFamily="18" charset="-78"/>
                <a:cs typeface="IRANSans" panose="02040503050201020203" pitchFamily="18" charset="-78"/>
              </a:rPr>
              <a:t>ساخت ربات‌ها و سخت‌افزارهای هوشمند</a:t>
            </a:r>
            <a:endParaRPr lang="en-US" dirty="0">
              <a:latin typeface="IRANSans" panose="02040503050201020203" pitchFamily="18" charset="-78"/>
              <a:cs typeface="IRANSans" panose="02040503050201020203" pitchFamily="18" charset="-78"/>
            </a:endParaRPr>
          </a:p>
          <a:p>
            <a:pPr lvl="1" algn="r" rtl="1"/>
            <a:r>
              <a:rPr lang="fa-IR" dirty="0">
                <a:latin typeface="IRANSans" panose="02040503050201020203" pitchFamily="18" charset="-78"/>
                <a:cs typeface="IRANSans" panose="02040503050201020203" pitchFamily="18" charset="-78"/>
              </a:rPr>
              <a:t>اسکریپت‌نویسی و خودکارسازی کارها</a:t>
            </a:r>
            <a:endParaRPr lang="en-US" dirty="0"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A454A4-BD27-5202-A53B-AEC934CBAF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125" y="1651954"/>
            <a:ext cx="3857022" cy="3857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122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347F9-59B5-AF59-4454-75D261217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192BB-5E02-88CD-D7C2-343037B2B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ANSans" panose="02040503050201020203" pitchFamily="18" charset="-78"/>
                <a:cs typeface="IRANSans" panose="02040503050201020203" pitchFamily="18" charset="-78"/>
              </a:rPr>
              <a:t>مقایسه کوتاه پایتون با دیگر زبان‌ها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B8FD567-073A-A4AA-934E-504CE3FBB5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3882" y="1840207"/>
            <a:ext cx="10353675" cy="2811058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40C895-D3CD-BFE6-FB29-58265FD2E7AD}"/>
              </a:ext>
            </a:extLst>
          </p:cNvPr>
          <p:cNvSpPr txBox="1"/>
          <p:nvPr/>
        </p:nvSpPr>
        <p:spPr>
          <a:xfrm>
            <a:off x="913795" y="5248441"/>
            <a:ext cx="103537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buNone/>
            </a:pPr>
            <a:r>
              <a:rPr lang="fa-IR" sz="2000" b="1" dirty="0">
                <a:latin typeface="IRANSans" panose="02040503050201020203" pitchFamily="18" charset="-78"/>
                <a:cs typeface="IRANSans" panose="02040503050201020203" pitchFamily="18" charset="-78"/>
              </a:rPr>
              <a:t>نتیجه:</a:t>
            </a:r>
            <a:r>
              <a:rPr lang="fa-IR" sz="2000" dirty="0">
                <a:latin typeface="IRANSans" panose="02040503050201020203" pitchFamily="18" charset="-78"/>
                <a:cs typeface="IRANSans" panose="02040503050201020203" pitchFamily="18" charset="-78"/>
              </a:rPr>
              <a:t> پایتون بهترین انتخاب برای شروع برنامه‌نویسی است.</a:t>
            </a:r>
          </a:p>
        </p:txBody>
      </p:sp>
    </p:spTree>
    <p:extLst>
      <p:ext uri="{BB962C8B-B14F-4D97-AF65-F5344CB8AC3E}">
        <p14:creationId xmlns:p14="http://schemas.microsoft.com/office/powerpoint/2010/main" val="1866150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29D90-C457-EFA2-9968-307B68816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1A204-5B21-9E11-EAA4-8FBFDCDA9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ANSans" panose="02040503050201020203" pitchFamily="18" charset="-78"/>
                <a:cs typeface="IRANSans" panose="02040503050201020203" pitchFamily="18" charset="-78"/>
              </a:rPr>
              <a:t>پیش‌نیازهای کلاس برنامه نویسی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3F27A-55D5-A32A-A437-B342E375FF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>
              <a:lnSpc>
                <a:spcPct val="150000"/>
              </a:lnSpc>
            </a:pPr>
            <a:r>
              <a:rPr lang="fa-IR" sz="2400" dirty="0">
                <a:latin typeface="IRANSans" panose="02040503050201020203" pitchFamily="18" charset="-78"/>
                <a:cs typeface="IRANSans" panose="02040503050201020203" pitchFamily="18" charset="-78"/>
              </a:rPr>
              <a:t>داشتن لپ‌تاپ شخصی برای شرکت در کلاس عملی</a:t>
            </a:r>
          </a:p>
          <a:p>
            <a:pPr algn="r" rtl="1">
              <a:lnSpc>
                <a:spcPct val="150000"/>
              </a:lnSpc>
            </a:pPr>
            <a:r>
              <a:rPr lang="fa-IR" sz="2400" dirty="0">
                <a:latin typeface="IRANSans" panose="02040503050201020203" pitchFamily="18" charset="-78"/>
                <a:cs typeface="IRANSans" panose="02040503050201020203" pitchFamily="18" charset="-78"/>
              </a:rPr>
              <a:t>آشنایی اولیه با کارهای پایه‌ای کامپیوتر (کار با پوشه‌ها، تایپ، نصب نرم‌افزار)</a:t>
            </a:r>
          </a:p>
          <a:p>
            <a:pPr algn="r" rtl="1">
              <a:lnSpc>
                <a:spcPct val="150000"/>
              </a:lnSpc>
            </a:pPr>
            <a:r>
              <a:rPr lang="fa-IR" sz="2400" dirty="0">
                <a:latin typeface="IRANSans" panose="02040503050201020203" pitchFamily="18" charset="-78"/>
                <a:cs typeface="IRANSans" panose="02040503050201020203" pitchFamily="18" charset="-78"/>
              </a:rPr>
              <a:t>زبان انگلیسی</a:t>
            </a:r>
          </a:p>
          <a:p>
            <a:pPr algn="r" rtl="1">
              <a:lnSpc>
                <a:spcPct val="150000"/>
              </a:lnSpc>
            </a:pPr>
            <a:r>
              <a:rPr lang="fa-IR" sz="2400" dirty="0">
                <a:latin typeface="IRANSans" panose="02040503050201020203" pitchFamily="18" charset="-78"/>
                <a:cs typeface="IRANSans" panose="02040503050201020203" pitchFamily="18" charset="-78"/>
              </a:rPr>
              <a:t>حضور منظم در کلاس‌ها</a:t>
            </a:r>
          </a:p>
          <a:p>
            <a:pPr algn="r" rtl="1">
              <a:lnSpc>
                <a:spcPct val="150000"/>
              </a:lnSpc>
            </a:pPr>
            <a:r>
              <a:rPr lang="fa-IR" sz="2400" dirty="0">
                <a:latin typeface="IRANSans" panose="02040503050201020203" pitchFamily="18" charset="-78"/>
                <a:cs typeface="IRANSans" panose="02040503050201020203" pitchFamily="18" charset="-78"/>
              </a:rPr>
              <a:t>نوشتن جزوه</a:t>
            </a:r>
            <a:endParaRPr lang="en-US" sz="2400" dirty="0"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pic>
        <p:nvPicPr>
          <p:cNvPr id="6146" name="Picture 2" descr="Working on a code young kid learning programming with a laptop flat vector  illustration | Premium Vector">
            <a:extLst>
              <a:ext uri="{FF2B5EF4-FFF2-40B4-BE49-F238E27FC236}">
                <a16:creationId xmlns:a16="http://schemas.microsoft.com/office/drawing/2014/main" id="{C4A6FBF7-F291-6D7B-DAF4-E3752325EC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44" b="89776" l="5591" r="93450">
                        <a14:foregroundMark x1="10383" y1="81629" x2="10863" y2="81629"/>
                        <a14:foregroundMark x1="82109" y1="49521" x2="82109" y2="49521"/>
                        <a14:foregroundMark x1="71725" y1="69808" x2="71725" y2="69808"/>
                        <a14:foregroundMark x1="72204" y1="69808" x2="72364" y2="68850"/>
                        <a14:foregroundMark x1="93610" y1="81629" x2="90895" y2="81470"/>
                        <a14:foregroundMark x1="38658" y1="43450" x2="32428" y2="41693"/>
                        <a14:foregroundMark x1="41534" y1="41853" x2="30511" y2="41534"/>
                        <a14:foregroundMark x1="30511" y1="41534" x2="34984" y2="37700"/>
                        <a14:foregroundMark x1="45367" y1="42971" x2="45527" y2="40895"/>
                        <a14:foregroundMark x1="73482" y1="50319" x2="70927" y2="50319"/>
                        <a14:foregroundMark x1="69808" y1="43131" x2="70607" y2="43131"/>
                        <a14:foregroundMark x1="76038" y1="44409" x2="77316" y2="44409"/>
                        <a14:foregroundMark x1="84185" y1="42812" x2="84505" y2="42812"/>
                        <a14:foregroundMark x1="5591" y1="81629" x2="8466" y2="8210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3652" y="2911495"/>
            <a:ext cx="4491768" cy="4491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6538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501FF-E3FE-40DF-4855-266984256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EF4DF-38EB-6EFB-A6D5-9717B5E09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ANSans" panose="02040503050201020203" pitchFamily="18" charset="-78"/>
                <a:cs typeface="IRANSans" panose="02040503050201020203" pitchFamily="18" charset="-78"/>
              </a:rPr>
              <a:t>نرم‌افزارهای لازم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82FD74-DBFB-EAC1-659C-EB80C60FC4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en-US" sz="3200" dirty="0">
                <a:latin typeface="IRANSans" panose="02040503050201020203" pitchFamily="18" charset="-78"/>
                <a:cs typeface="IRANSans" panose="02040503050201020203" pitchFamily="18" charset="-78"/>
              </a:rPr>
              <a:t>Python</a:t>
            </a:r>
          </a:p>
          <a:p>
            <a:pPr algn="r" rtl="1"/>
            <a:r>
              <a:rPr lang="en-US" sz="3200" dirty="0">
                <a:latin typeface="IRANSans" panose="02040503050201020203" pitchFamily="18" charset="-78"/>
                <a:cs typeface="IRANSans" panose="02040503050201020203" pitchFamily="18" charset="-78"/>
              </a:rPr>
              <a:t>VS code (visual studio code)</a:t>
            </a:r>
          </a:p>
          <a:p>
            <a:pPr algn="r" rtl="1"/>
            <a:r>
              <a:rPr lang="fa-IR" sz="3200" dirty="0">
                <a:latin typeface="IRANSans" panose="02040503050201020203" pitchFamily="18" charset="-78"/>
                <a:cs typeface="IRANSans" panose="02040503050201020203" pitchFamily="18" charset="-78"/>
              </a:rPr>
              <a:t>نصب افزونه </a:t>
            </a:r>
            <a:r>
              <a:rPr lang="en-US" sz="3200" dirty="0">
                <a:latin typeface="IRANSans" panose="02040503050201020203" pitchFamily="18" charset="-78"/>
                <a:cs typeface="IRANSans" panose="02040503050201020203" pitchFamily="18" charset="-78"/>
              </a:rPr>
              <a:t>Python</a:t>
            </a:r>
            <a:r>
              <a:rPr lang="fa-IR" sz="3200" dirty="0">
                <a:latin typeface="IRANSans" panose="02040503050201020203" pitchFamily="18" charset="-78"/>
                <a:cs typeface="IRANSans" panose="02040503050201020203" pitchFamily="18" charset="-78"/>
              </a:rPr>
              <a:t> در </a:t>
            </a:r>
            <a:r>
              <a:rPr lang="en-US" sz="3200" dirty="0">
                <a:latin typeface="IRANSans" panose="02040503050201020203" pitchFamily="18" charset="-78"/>
                <a:cs typeface="IRANSans" panose="02040503050201020203" pitchFamily="18" charset="-78"/>
              </a:rPr>
              <a:t>VS Code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F76D56-00CA-1E75-9C28-0B207BEA54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614" y="1385792"/>
            <a:ext cx="2376032" cy="2376032"/>
          </a:xfrm>
          <a:prstGeom prst="rect">
            <a:avLst/>
          </a:prstGeom>
        </p:spPr>
      </p:pic>
      <p:pic>
        <p:nvPicPr>
          <p:cNvPr id="5122" name="Picture 2" descr="Microsoft Visual Studio Code - Social media &amp; Logos Icons">
            <a:extLst>
              <a:ext uri="{FF2B5EF4-FFF2-40B4-BE49-F238E27FC236}">
                <a16:creationId xmlns:a16="http://schemas.microsoft.com/office/drawing/2014/main" id="{85DE8F4B-1644-9CC4-738C-FD93385E38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2952" y="3691258"/>
            <a:ext cx="2972735" cy="2972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3023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7A8A7-5F8B-7ADF-9E3B-A94CA49B1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391CC-3EA8-8383-70D9-45B0E1E65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ANSans" panose="02040503050201020203" pitchFamily="18" charset="-78"/>
                <a:cs typeface="IRANSans" panose="02040503050201020203" pitchFamily="18" charset="-78"/>
              </a:rPr>
              <a:t>اولین برنامه پایتون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B257888-B051-D20E-58BA-6FCD582408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endParaRPr lang="en-US" dirty="0">
              <a:latin typeface="IRANSans" panose="02040503050201020203" pitchFamily="18" charset="-78"/>
              <a:cs typeface="IRANSans" panose="02040503050201020203" pitchFamily="18" charset="-78"/>
            </a:endParaRPr>
          </a:p>
          <a:p>
            <a:pPr algn="r" rtl="1"/>
            <a:endParaRPr lang="en-US" dirty="0">
              <a:latin typeface="IRANSans" panose="02040503050201020203" pitchFamily="18" charset="-78"/>
              <a:cs typeface="IRANSans" panose="02040503050201020203" pitchFamily="18" charset="-78"/>
            </a:endParaRPr>
          </a:p>
          <a:p>
            <a:pPr algn="r" rtl="1"/>
            <a:endParaRPr lang="en-US" dirty="0">
              <a:latin typeface="IRANSans" panose="02040503050201020203" pitchFamily="18" charset="-78"/>
              <a:cs typeface="IRANSans" panose="02040503050201020203" pitchFamily="18" charset="-78"/>
            </a:endParaRPr>
          </a:p>
          <a:p>
            <a:pPr algn="r" rtl="1"/>
            <a:endParaRPr lang="en-US" dirty="0">
              <a:latin typeface="IRANSans" panose="02040503050201020203" pitchFamily="18" charset="-78"/>
              <a:cs typeface="IRANSans" panose="02040503050201020203" pitchFamily="18" charset="-78"/>
            </a:endParaRPr>
          </a:p>
          <a:p>
            <a:pPr algn="r" rtl="1"/>
            <a:r>
              <a:rPr lang="fa-IR" dirty="0">
                <a:latin typeface="IRANSans" panose="02040503050201020203" pitchFamily="18" charset="-78"/>
                <a:cs typeface="IRANSans" panose="02040503050201020203" pitchFamily="18" charset="-78"/>
              </a:rPr>
              <a:t>این دستور یک متن را روی صفحه نمایش چاپ می‌کند.</a:t>
            </a:r>
            <a:endParaRPr lang="en-US" dirty="0"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2813B6BE-F159-E6C6-7399-2A32398C21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795" y="1791373"/>
            <a:ext cx="10353675" cy="133746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69084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9265A-B3D2-92AC-374D-BA09B4E4C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1BECA-C6B5-8DB7-A9FA-CA12FE553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ANSans" panose="02040503050201020203" pitchFamily="18" charset="-78"/>
                <a:cs typeface="IRANSans" panose="02040503050201020203" pitchFamily="18" charset="-78"/>
              </a:rPr>
              <a:t>نحوه ارسال تکالیف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9957825-3E68-AD8F-BAB4-40FADD1696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>
              <a:lnSpc>
                <a:spcPct val="150000"/>
              </a:lnSpc>
            </a:pPr>
            <a:r>
              <a:rPr lang="fa-IR" sz="3200" dirty="0">
                <a:latin typeface="IRANSans" panose="02040503050201020203" pitchFamily="18" charset="-78"/>
                <a:cs typeface="IRANSans" panose="02040503050201020203" pitchFamily="18" charset="-78"/>
              </a:rPr>
              <a:t>تحویل حضوری سر کلاس (روی کاغذ یا فلش)</a:t>
            </a:r>
          </a:p>
          <a:p>
            <a:pPr algn="r" rtl="1">
              <a:lnSpc>
                <a:spcPct val="150000"/>
              </a:lnSpc>
            </a:pPr>
            <a:r>
              <a:rPr lang="fa-IR" sz="3200" dirty="0">
                <a:latin typeface="IRANSans" panose="02040503050201020203" pitchFamily="18" charset="-78"/>
                <a:cs typeface="IRANSans" panose="02040503050201020203" pitchFamily="18" charset="-78"/>
              </a:rPr>
              <a:t>ارسال در سایت:</a:t>
            </a:r>
            <a:r>
              <a:rPr lang="en-US" sz="3200" dirty="0">
                <a:latin typeface="IRANSans" panose="02040503050201020203" pitchFamily="18" charset="-78"/>
                <a:cs typeface="IRANSans" panose="02040503050201020203" pitchFamily="18" charset="-78"/>
                <a:hlinkClick r:id="rId2"/>
              </a:rPr>
              <a:t>45.90.72.56:3007</a:t>
            </a:r>
            <a:r>
              <a:rPr lang="en-US" sz="3200" dirty="0">
                <a:latin typeface="IRANSans" panose="02040503050201020203" pitchFamily="18" charset="-78"/>
                <a:cs typeface="IRANSans" panose="02040503050201020203" pitchFamily="18" charset="-78"/>
              </a:rPr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BE11E1-833D-F4B7-8BBE-054CD12DCB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8329" y="3471449"/>
            <a:ext cx="5904694" cy="315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633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5CCB5-2D30-956F-1384-C71052811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56D59-F5C6-77D9-D2B2-AB7AB63F1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RANSans" panose="02040503050201020203" pitchFamily="18" charset="-78"/>
                <a:cs typeface="IRANSans" panose="02040503050201020203" pitchFamily="18" charset="-78"/>
              </a:rPr>
              <a:t>تکلیف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D5C0D2F-D0C0-A4FF-10C0-8ACCCC8F1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900" indent="0" algn="r" rtl="1">
              <a:buNone/>
            </a:pPr>
            <a:endParaRPr lang="fa-IR" sz="3600" dirty="0">
              <a:latin typeface="IRANSans" panose="02040503050201020203" pitchFamily="18" charset="-78"/>
              <a:cs typeface="IRANSans" panose="02040503050201020203" pitchFamily="18" charset="-78"/>
            </a:endParaRPr>
          </a:p>
          <a:p>
            <a:pPr marL="36900" indent="0" algn="r" rtl="1">
              <a:buNone/>
            </a:pPr>
            <a:r>
              <a:rPr lang="fa-IR" sz="3600" dirty="0">
                <a:latin typeface="IRANSans" panose="02040503050201020203" pitchFamily="18" charset="-78"/>
                <a:cs typeface="IRANSans" panose="02040503050201020203" pitchFamily="18" charset="-78"/>
              </a:rPr>
              <a:t>برنامه ای بنویسید که نام خودتان را چاپ کند.</a:t>
            </a:r>
            <a:endParaRPr lang="en-US" sz="3600" dirty="0"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4001597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FAF5D-C38F-AC7F-348F-2D2933147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99336-2112-9982-9D57-07EE783F2A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2240764"/>
            <a:ext cx="9440034" cy="2407442"/>
          </a:xfrm>
        </p:spPr>
        <p:txBody>
          <a:bodyPr>
            <a:normAutofit/>
          </a:bodyPr>
          <a:lstStyle/>
          <a:p>
            <a:pPr rtl="1"/>
            <a:r>
              <a:rPr lang="fa-IR" sz="8000" b="1" dirty="0">
                <a:latin typeface="IRANSans" panose="02040503050201020203" pitchFamily="18" charset="-78"/>
                <a:cs typeface="IRANSans" panose="02040503050201020203" pitchFamily="18" charset="-78"/>
              </a:rPr>
              <a:t>موفق باشید</a:t>
            </a:r>
            <a:endParaRPr lang="en-US" sz="8000" b="1" dirty="0">
              <a:solidFill>
                <a:srgbClr val="92D050"/>
              </a:solidFill>
              <a:latin typeface="IRANSans" panose="02040503050201020203" pitchFamily="18" charset="-78"/>
              <a:cs typeface="IRANSans" panose="02040503050201020203" pitchFamily="18" charset="-7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CC19DC-A4D1-56F7-08F4-160D5A70FB45}"/>
              </a:ext>
            </a:extLst>
          </p:cNvPr>
          <p:cNvSpPr txBox="1"/>
          <p:nvPr/>
        </p:nvSpPr>
        <p:spPr>
          <a:xfrm>
            <a:off x="1381272" y="5231255"/>
            <a:ext cx="942945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fa-IR" sz="2000" dirty="0">
                <a:latin typeface="IRANSans" panose="02040503050201020203" pitchFamily="18" charset="-78"/>
                <a:cs typeface="IRANSans" panose="02040503050201020203" pitchFamily="18" charset="-78"/>
              </a:rPr>
              <a:t>کانال تلگرام: </a:t>
            </a:r>
            <a:r>
              <a:rPr lang="en-US" sz="2000" dirty="0">
                <a:solidFill>
                  <a:srgbClr val="00B0F0"/>
                </a:solidFill>
                <a:latin typeface="IRANSans" panose="02040503050201020203" pitchFamily="18" charset="-78"/>
                <a:cs typeface="IRANSans" panose="02040503050201020203" pitchFamily="18" charset="-78"/>
              </a:rPr>
              <a:t>@att_python</a:t>
            </a:r>
          </a:p>
          <a:p>
            <a:pPr algn="r" rtl="1">
              <a:lnSpc>
                <a:spcPct val="150000"/>
              </a:lnSpc>
            </a:pPr>
            <a:r>
              <a:rPr lang="fa-IR" sz="2400" dirty="0">
                <a:latin typeface="IRANSans" panose="02040503050201020203" pitchFamily="18" charset="-78"/>
                <a:cs typeface="IRANSans" panose="02040503050201020203" pitchFamily="18" charset="-78"/>
              </a:rPr>
              <a:t>شماره تماس: 09336448037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4B4FB1-79B5-7FE0-813D-3B30A92B24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7531" y="452272"/>
            <a:ext cx="2516938" cy="2516938"/>
          </a:xfrm>
          <a:prstGeom prst="rect">
            <a:avLst/>
          </a:prstGeom>
        </p:spPr>
      </p:pic>
      <p:sp>
        <p:nvSpPr>
          <p:cNvPr id="7" name="Subtitle 6">
            <a:extLst>
              <a:ext uri="{FF2B5EF4-FFF2-40B4-BE49-F238E27FC236}">
                <a16:creationId xmlns:a16="http://schemas.microsoft.com/office/drawing/2014/main" id="{D89AA7FD-2B55-55E4-A4B1-C1B9373155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a-IR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74947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68</TotalTime>
  <Words>254</Words>
  <Application>Microsoft Office PowerPoint</Application>
  <PresentationFormat>Widescreen</PresentationFormat>
  <Paragraphs>52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Calisto MT</vt:lpstr>
      <vt:lpstr>IRANSans</vt:lpstr>
      <vt:lpstr>Wingdings 2</vt:lpstr>
      <vt:lpstr>Slate</vt:lpstr>
      <vt:lpstr>برنامه نویسی به زبان پایتون</vt:lpstr>
      <vt:lpstr>برنامه‌نویسی یعنی چه؟</vt:lpstr>
      <vt:lpstr>زبان‌های برنامه‌نویسی</vt:lpstr>
      <vt:lpstr>چرا پایتون؟</vt:lpstr>
      <vt:lpstr>مقایسه کوتاه پایتون با دیگر زبان‌ها</vt:lpstr>
      <vt:lpstr>پیش‌نیازهای کلاس برنامه نویسی</vt:lpstr>
      <vt:lpstr>نرم‌افزارهای لازم</vt:lpstr>
      <vt:lpstr>اولین برنامه پایتون</vt:lpstr>
      <vt:lpstr>نحوه ارسال تکالیف</vt:lpstr>
      <vt:lpstr>تکلیف</vt:lpstr>
      <vt:lpstr>موفق باشید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farhan daemi</dc:creator>
  <cp:lastModifiedBy>farhan daemi</cp:lastModifiedBy>
  <cp:revision>28</cp:revision>
  <dcterms:created xsi:type="dcterms:W3CDTF">2025-09-22T17:48:50Z</dcterms:created>
  <dcterms:modified xsi:type="dcterms:W3CDTF">2025-09-22T18:57:40Z</dcterms:modified>
</cp:coreProperties>
</file>