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ink/ink3.xml" ContentType="application/inkml+xml"/>
  <Override PartName="/ppt/ink/ink4.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8"/>
  </p:notesMasterIdLst>
  <p:sldIdLst>
    <p:sldId id="258" r:id="rId2"/>
    <p:sldId id="274" r:id="rId3"/>
    <p:sldId id="275" r:id="rId4"/>
    <p:sldId id="276" r:id="rId5"/>
    <p:sldId id="277" r:id="rId6"/>
    <p:sldId id="278" r:id="rId7"/>
    <p:sldId id="279" r:id="rId8"/>
    <p:sldId id="280" r:id="rId9"/>
    <p:sldId id="281" r:id="rId10"/>
    <p:sldId id="285" r:id="rId11"/>
    <p:sldId id="286" r:id="rId12"/>
    <p:sldId id="287" r:id="rId13"/>
    <p:sldId id="282" r:id="rId14"/>
    <p:sldId id="283" r:id="rId15"/>
    <p:sldId id="284" r:id="rId16"/>
    <p:sldId id="288" r:id="rId17"/>
    <p:sldId id="289" r:id="rId18"/>
    <p:sldId id="259" r:id="rId19"/>
    <p:sldId id="267" r:id="rId20"/>
    <p:sldId id="268" r:id="rId21"/>
    <p:sldId id="290" r:id="rId22"/>
    <p:sldId id="269" r:id="rId23"/>
    <p:sldId id="271" r:id="rId24"/>
    <p:sldId id="293" r:id="rId25"/>
    <p:sldId id="291" r:id="rId26"/>
    <p:sldId id="292" r:id="rId27"/>
    <p:sldId id="297" r:id="rId28"/>
    <p:sldId id="294" r:id="rId29"/>
    <p:sldId id="295" r:id="rId30"/>
    <p:sldId id="296" r:id="rId31"/>
    <p:sldId id="298" r:id="rId32"/>
    <p:sldId id="299" r:id="rId33"/>
    <p:sldId id="300" r:id="rId34"/>
    <p:sldId id="301" r:id="rId35"/>
    <p:sldId id="303" r:id="rId36"/>
    <p:sldId id="302" r:id="rId37"/>
    <p:sldId id="304" r:id="rId38"/>
    <p:sldId id="305" r:id="rId39"/>
    <p:sldId id="306" r:id="rId40"/>
    <p:sldId id="307" r:id="rId41"/>
    <p:sldId id="311" r:id="rId42"/>
    <p:sldId id="312" r:id="rId43"/>
    <p:sldId id="313" r:id="rId44"/>
    <p:sldId id="308" r:id="rId45"/>
    <p:sldId id="309" r:id="rId46"/>
    <p:sldId id="310" r:id="rId47"/>
    <p:sldId id="314" r:id="rId48"/>
    <p:sldId id="315" r:id="rId49"/>
    <p:sldId id="316" r:id="rId50"/>
    <p:sldId id="317" r:id="rId51"/>
    <p:sldId id="318" r:id="rId52"/>
    <p:sldId id="319" r:id="rId53"/>
    <p:sldId id="320" r:id="rId54"/>
    <p:sldId id="321" r:id="rId55"/>
    <p:sldId id="322" r:id="rId56"/>
    <p:sldId id="266" r:id="rId5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597" autoAdjust="0"/>
    <p:restoredTop sz="94660"/>
  </p:normalViewPr>
  <p:slideViewPr>
    <p:cSldViewPr snapToGrid="0">
      <p:cViewPr varScale="1">
        <p:scale>
          <a:sx n="88" d="100"/>
          <a:sy n="88" d="100"/>
        </p:scale>
        <p:origin x="291" y="57"/>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09:23:18.070"/>
    </inkml:context>
    <inkml:brush xml:id="br0">
      <inkml:brushProperty name="width" value="0.035" units="cm"/>
      <inkml:brushProperty name="height" value="0.035" units="cm"/>
    </inkml:brush>
  </inkml:definitions>
  <inkml:trace contextRef="#ctx0" brushRef="#br0">122 129 7631 0 0,'-31'-23'672'0'0,"4"1"-536"0"0,9 6-136 0 0,2 7 0 0 0,0 5 0 0 0,5 1 0 0 0,9-3-536 0 0,11-1 56 0 0,13-4 0 0 0,8-1-1440 0 0,1-3-280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09:23:18.896"/>
    </inkml:context>
    <inkml:brush xml:id="br0">
      <inkml:brushProperty name="width" value="0.035" units="cm"/>
      <inkml:brushProperty name="height" value="0.035" units="cm"/>
    </inkml:brush>
  </inkml:definitions>
  <inkml:trace contextRef="#ctx0" brushRef="#br0">95 1 4255 0 0,'-23'2'384'0'0,"1"5"-312"0"0,2 2-72 0 0,2-2 104 0 0,6-1 360 0 0,28-17-3536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09:23:18.070"/>
    </inkml:context>
    <inkml:brush xml:id="br0">
      <inkml:brushProperty name="width" value="0.035" units="cm"/>
      <inkml:brushProperty name="height" value="0.035" units="cm"/>
    </inkml:brush>
  </inkml:definitions>
  <inkml:trace contextRef="#ctx0" brushRef="#br0">122 129 7631 0 0,'-31'-23'672'0'0,"4"1"-536"0"0,9 6-136 0 0,2 7 0 0 0,0 5 0 0 0,5 1 0 0 0,9-3-536 0 0,11-1 56 0 0,13-4 0 0 0,8-1-1440 0 0,1-3-280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5-10-27T09:23:18.896"/>
    </inkml:context>
    <inkml:brush xml:id="br0">
      <inkml:brushProperty name="width" value="0.035" units="cm"/>
      <inkml:brushProperty name="height" value="0.035" units="cm"/>
    </inkml:brush>
  </inkml:definitions>
  <inkml:trace contextRef="#ctx0" brushRef="#br0">95 1 4255 0 0,'-23'2'384'0'0,"1"5"-312"0"0,2 2-72 0 0,2-2 104 0 0,6-1 360 0 0,28-17-3536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EF974B-A7E7-4F83-B48F-3417BE9A34E5}"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C752D2-36E0-440B-8BEC-3F2C8D7482B5}" type="slidenum">
              <a:rPr lang="en-US" smtClean="0"/>
              <a:t>‹#›</a:t>
            </a:fld>
            <a:endParaRPr lang="en-US"/>
          </a:p>
        </p:txBody>
      </p:sp>
    </p:spTree>
    <p:extLst>
      <p:ext uri="{BB962C8B-B14F-4D97-AF65-F5344CB8AC3E}">
        <p14:creationId xmlns:p14="http://schemas.microsoft.com/office/powerpoint/2010/main" val="1586032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C752D2-36E0-440B-8BEC-3F2C8D7482B5}" type="slidenum">
              <a:rPr lang="en-US" smtClean="0"/>
              <a:t>1</a:t>
            </a:fld>
            <a:endParaRPr lang="en-US"/>
          </a:p>
        </p:txBody>
      </p:sp>
    </p:spTree>
    <p:extLst>
      <p:ext uri="{BB962C8B-B14F-4D97-AF65-F5344CB8AC3E}">
        <p14:creationId xmlns:p14="http://schemas.microsoft.com/office/powerpoint/2010/main" val="4156048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CC752D2-36E0-440B-8BEC-3F2C8D7482B5}" type="slidenum">
              <a:rPr lang="en-US" smtClean="0"/>
              <a:t>14</a:t>
            </a:fld>
            <a:endParaRPr lang="en-US"/>
          </a:p>
        </p:txBody>
      </p:sp>
    </p:spTree>
    <p:extLst>
      <p:ext uri="{BB962C8B-B14F-4D97-AF65-F5344CB8AC3E}">
        <p14:creationId xmlns:p14="http://schemas.microsoft.com/office/powerpoint/2010/main" val="36782603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80D42-9209-15F3-9513-A7706F7987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F0C7E8-BD2A-D15B-60AD-F82840E86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58BC2A-9B02-765D-C2E7-BCC9171FFE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C7114BD-2091-5489-6D96-8A66AA177A6F}"/>
              </a:ext>
            </a:extLst>
          </p:cNvPr>
          <p:cNvSpPr>
            <a:spLocks noGrp="1"/>
          </p:cNvSpPr>
          <p:nvPr>
            <p:ph type="sldNum" sz="quarter" idx="5"/>
          </p:nvPr>
        </p:nvSpPr>
        <p:spPr/>
        <p:txBody>
          <a:bodyPr/>
          <a:lstStyle/>
          <a:p>
            <a:fld id="{7CC752D2-36E0-440B-8BEC-3F2C8D7482B5}" type="slidenum">
              <a:rPr lang="en-US" smtClean="0"/>
              <a:t>27</a:t>
            </a:fld>
            <a:endParaRPr lang="en-US"/>
          </a:p>
        </p:txBody>
      </p:sp>
    </p:spTree>
    <p:extLst>
      <p:ext uri="{BB962C8B-B14F-4D97-AF65-F5344CB8AC3E}">
        <p14:creationId xmlns:p14="http://schemas.microsoft.com/office/powerpoint/2010/main" val="1675694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626A9-726B-D5D2-7A2C-B9CBB07536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B7DC83-342D-A1B9-0733-C1F27ACA58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A2B23E-664B-67B6-1C72-6A0AD4DBDA0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B3B115-3673-8028-3637-3C2A7EAAC3C1}"/>
              </a:ext>
            </a:extLst>
          </p:cNvPr>
          <p:cNvSpPr>
            <a:spLocks noGrp="1"/>
          </p:cNvSpPr>
          <p:nvPr>
            <p:ph type="sldNum" sz="quarter" idx="5"/>
          </p:nvPr>
        </p:nvSpPr>
        <p:spPr/>
        <p:txBody>
          <a:bodyPr/>
          <a:lstStyle/>
          <a:p>
            <a:fld id="{7CC752D2-36E0-440B-8BEC-3F2C8D7482B5}" type="slidenum">
              <a:rPr lang="en-US" smtClean="0"/>
              <a:t>35</a:t>
            </a:fld>
            <a:endParaRPr lang="en-US"/>
          </a:p>
        </p:txBody>
      </p:sp>
    </p:spTree>
    <p:extLst>
      <p:ext uri="{BB962C8B-B14F-4D97-AF65-F5344CB8AC3E}">
        <p14:creationId xmlns:p14="http://schemas.microsoft.com/office/powerpoint/2010/main" val="39632077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E75D7-4F52-AD57-FA35-21A0C3C74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45CFBF-C096-C811-4B1C-2F009329E0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64E228-C2AB-95A7-824D-BEE6AB1C9DC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A08F03-CC03-640E-8A2A-804F291533C9}"/>
              </a:ext>
            </a:extLst>
          </p:cNvPr>
          <p:cNvSpPr>
            <a:spLocks noGrp="1"/>
          </p:cNvSpPr>
          <p:nvPr>
            <p:ph type="sldNum" sz="quarter" idx="5"/>
          </p:nvPr>
        </p:nvSpPr>
        <p:spPr/>
        <p:txBody>
          <a:bodyPr/>
          <a:lstStyle/>
          <a:p>
            <a:fld id="{7CC752D2-36E0-440B-8BEC-3F2C8D7482B5}" type="slidenum">
              <a:rPr lang="en-US" smtClean="0"/>
              <a:t>41</a:t>
            </a:fld>
            <a:endParaRPr lang="en-US"/>
          </a:p>
        </p:txBody>
      </p:sp>
    </p:spTree>
    <p:extLst>
      <p:ext uri="{BB962C8B-B14F-4D97-AF65-F5344CB8AC3E}">
        <p14:creationId xmlns:p14="http://schemas.microsoft.com/office/powerpoint/2010/main" val="17860770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194A2-21BA-CA6B-9585-B023E803A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D51C2-6928-8DB4-6627-9DC95F4B9A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6F7329-DEE1-D009-F288-90EE4D95EF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734F00-3D17-42D3-FB62-792C942E6E12}"/>
              </a:ext>
            </a:extLst>
          </p:cNvPr>
          <p:cNvSpPr>
            <a:spLocks noGrp="1"/>
          </p:cNvSpPr>
          <p:nvPr>
            <p:ph type="sldNum" sz="quarter" idx="5"/>
          </p:nvPr>
        </p:nvSpPr>
        <p:spPr/>
        <p:txBody>
          <a:bodyPr/>
          <a:lstStyle/>
          <a:p>
            <a:fld id="{7CC752D2-36E0-440B-8BEC-3F2C8D7482B5}" type="slidenum">
              <a:rPr lang="en-US" smtClean="0"/>
              <a:t>44</a:t>
            </a:fld>
            <a:endParaRPr lang="en-US"/>
          </a:p>
        </p:txBody>
      </p:sp>
    </p:spTree>
    <p:extLst>
      <p:ext uri="{BB962C8B-B14F-4D97-AF65-F5344CB8AC3E}">
        <p14:creationId xmlns:p14="http://schemas.microsoft.com/office/powerpoint/2010/main" val="1357497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049601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21249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B47A3A2-ECA8-4476-8799-B477369250BE}"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40871452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B47A3A2-ECA8-4476-8799-B477369250BE}"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300207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47A3A2-ECA8-4476-8799-B477369250BE}" type="datetimeFigureOut">
              <a:rPr lang="en-US" smtClean="0"/>
              <a:t>11/17/2025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5312234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B47A3A2-ECA8-4476-8799-B477369250BE}"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314764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47A3A2-ECA8-4476-8799-B477369250BE}" type="datetimeFigureOut">
              <a:rPr lang="en-US" smtClean="0"/>
              <a:t>11/17/2025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6990716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509614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99540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9719607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914341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8159026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B47A3A2-ECA8-4476-8799-B477369250BE}" type="datetimeFigureOut">
              <a:rPr lang="en-US" smtClean="0"/>
              <a:t>11/17/2025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832914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B47A3A2-ECA8-4476-8799-B477369250BE}"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19281453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1B47A3A2-ECA8-4476-8799-B477369250BE}" type="datetimeFigureOut">
              <a:rPr lang="en-US" smtClean="0"/>
              <a:t>11/17/2025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0619092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32085100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B47A3A2-ECA8-4476-8799-B477369250BE}"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989485-DE94-4435-9899-A1C4B6015D4C}" type="slidenum">
              <a:rPr lang="en-US" smtClean="0"/>
              <a:t>‹#›</a:t>
            </a:fld>
            <a:endParaRPr lang="en-US"/>
          </a:p>
        </p:txBody>
      </p:sp>
    </p:spTree>
    <p:extLst>
      <p:ext uri="{BB962C8B-B14F-4D97-AF65-F5344CB8AC3E}">
        <p14:creationId xmlns:p14="http://schemas.microsoft.com/office/powerpoint/2010/main" val="6504350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B47A3A2-ECA8-4476-8799-B477369250BE}" type="datetimeFigureOut">
              <a:rPr lang="en-US" smtClean="0"/>
              <a:t>11/17/2025</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1C989485-DE94-4435-9899-A1C4B6015D4C}" type="slidenum">
              <a:rPr lang="en-US" smtClean="0"/>
              <a:t>‹#›</a:t>
            </a:fld>
            <a:endParaRPr lang="en-US"/>
          </a:p>
        </p:txBody>
      </p:sp>
    </p:spTree>
    <p:extLst>
      <p:ext uri="{BB962C8B-B14F-4D97-AF65-F5344CB8AC3E}">
        <p14:creationId xmlns:p14="http://schemas.microsoft.com/office/powerpoint/2010/main" val="374935899"/>
      </p:ext>
    </p:extLst>
  </p:cSld>
  <p:clrMap bg1="dk1" tx1="lt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customXml" Target="../ink/ink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customXml" Target="../ink/ink3.xml"/><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customXml" Target="../ink/ink4.xml"/></Relationships>
</file>

<file path=ppt/slides/_rels/slide35.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28.jp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DECB1-E27A-DCCA-29F1-06C948F894EE}"/>
              </a:ext>
            </a:extLst>
          </p:cNvPr>
          <p:cNvSpPr>
            <a:spLocks noGrp="1"/>
          </p:cNvSpPr>
          <p:nvPr>
            <p:ph type="ctrTitle"/>
          </p:nvPr>
        </p:nvSpPr>
        <p:spPr>
          <a:xfrm>
            <a:off x="1370693" y="2240764"/>
            <a:ext cx="9440034" cy="1828801"/>
          </a:xfrm>
        </p:spPr>
        <p:txBody>
          <a:bodyPr>
            <a:normAutofit/>
          </a:bodyPr>
          <a:lstStyle/>
          <a:p>
            <a:pPr rtl="1"/>
            <a:r>
              <a:rPr lang="fa-IR" sz="6600" b="1" dirty="0">
                <a:latin typeface="IRANSans" panose="02040503050201020203" pitchFamily="18" charset="-78"/>
                <a:cs typeface="IRANSans" panose="02040503050201020203" pitchFamily="18" charset="-78"/>
              </a:rPr>
              <a:t>برنامه نویسی به زبان پایتون</a:t>
            </a:r>
            <a:endParaRPr lang="en-US" sz="6600" b="1" dirty="0">
              <a:solidFill>
                <a:srgbClr val="92D050"/>
              </a:solidFill>
              <a:latin typeface="IRANSans" panose="02040503050201020203" pitchFamily="18" charset="-78"/>
              <a:cs typeface="IRANSans" panose="02040503050201020203" pitchFamily="18" charset="-78"/>
            </a:endParaRPr>
          </a:p>
        </p:txBody>
      </p:sp>
      <p:sp>
        <p:nvSpPr>
          <p:cNvPr id="3" name="Subtitle 2">
            <a:extLst>
              <a:ext uri="{FF2B5EF4-FFF2-40B4-BE49-F238E27FC236}">
                <a16:creationId xmlns:a16="http://schemas.microsoft.com/office/drawing/2014/main" id="{4C2BE043-FD41-F519-FF34-77BB75E81D27}"/>
              </a:ext>
            </a:extLst>
          </p:cNvPr>
          <p:cNvSpPr>
            <a:spLocks noGrp="1"/>
          </p:cNvSpPr>
          <p:nvPr>
            <p:ph type="subTitle" idx="1"/>
          </p:nvPr>
        </p:nvSpPr>
        <p:spPr>
          <a:xfrm>
            <a:off x="1370693" y="4069563"/>
            <a:ext cx="9440034" cy="1049867"/>
          </a:xfrm>
        </p:spPr>
        <p:txBody>
          <a:bodyPr>
            <a:normAutofit/>
          </a:bodyPr>
          <a:lstStyle/>
          <a:p>
            <a:r>
              <a:rPr lang="fa-IR" sz="2800" b="1" dirty="0">
                <a:solidFill>
                  <a:srgbClr val="92D050"/>
                </a:solidFill>
                <a:latin typeface="IRANSans" panose="02040503050201020203" pitchFamily="18" charset="-78"/>
                <a:cs typeface="IRANSans" panose="02040503050201020203" pitchFamily="18" charset="-78"/>
              </a:rPr>
              <a:t>فصل دوم</a:t>
            </a:r>
            <a:endParaRPr lang="en-US" sz="28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4D530A84-1DF8-073B-20E4-AAF0DA1D3ECC}"/>
              </a:ext>
            </a:extLst>
          </p:cNvPr>
          <p:cNvSpPr txBox="1"/>
          <p:nvPr/>
        </p:nvSpPr>
        <p:spPr>
          <a:xfrm>
            <a:off x="1381272" y="5231255"/>
            <a:ext cx="9429456" cy="1061829"/>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6" name="Picture 5">
            <a:extLst>
              <a:ext uri="{FF2B5EF4-FFF2-40B4-BE49-F238E27FC236}">
                <a16:creationId xmlns:a16="http://schemas.microsoft.com/office/drawing/2014/main" id="{0B2D6712-3E74-EF91-A874-D79782A60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531" y="452272"/>
            <a:ext cx="2516938" cy="2516938"/>
          </a:xfrm>
          <a:prstGeom prst="rect">
            <a:avLst/>
          </a:prstGeom>
        </p:spPr>
      </p:pic>
    </p:spTree>
    <p:extLst>
      <p:ext uri="{BB962C8B-B14F-4D97-AF65-F5344CB8AC3E}">
        <p14:creationId xmlns:p14="http://schemas.microsoft.com/office/powerpoint/2010/main" val="36538947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FA44EE3-1B27-A345-C3F4-D5551B67329B}"/>
              </a:ext>
            </a:extLst>
          </p:cNvPr>
          <p:cNvPicPr>
            <a:picLocks noChangeAspect="1"/>
          </p:cNvPicPr>
          <p:nvPr/>
        </p:nvPicPr>
        <p:blipFill>
          <a:blip r:embed="rId2"/>
          <a:stretch>
            <a:fillRect/>
          </a:stretch>
        </p:blipFill>
        <p:spPr>
          <a:xfrm>
            <a:off x="392584" y="0"/>
            <a:ext cx="11406831" cy="6858000"/>
          </a:xfrm>
          <a:prstGeom prst="rect">
            <a:avLst/>
          </a:prstGeom>
        </p:spPr>
      </p:pic>
    </p:spTree>
    <p:extLst>
      <p:ext uri="{BB962C8B-B14F-4D97-AF65-F5344CB8AC3E}">
        <p14:creationId xmlns:p14="http://schemas.microsoft.com/office/powerpoint/2010/main" val="279966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0223317-3CE8-2B34-2274-138312E83250}"/>
              </a:ext>
            </a:extLst>
          </p:cNvPr>
          <p:cNvPicPr>
            <a:picLocks noChangeAspect="1"/>
          </p:cNvPicPr>
          <p:nvPr/>
        </p:nvPicPr>
        <p:blipFill>
          <a:blip r:embed="rId2"/>
          <a:stretch>
            <a:fillRect/>
          </a:stretch>
        </p:blipFill>
        <p:spPr>
          <a:xfrm>
            <a:off x="1317994" y="0"/>
            <a:ext cx="9556012" cy="6858000"/>
          </a:xfrm>
          <a:prstGeom prst="rect">
            <a:avLst/>
          </a:prstGeom>
        </p:spPr>
      </p:pic>
    </p:spTree>
    <p:extLst>
      <p:ext uri="{BB962C8B-B14F-4D97-AF65-F5344CB8AC3E}">
        <p14:creationId xmlns:p14="http://schemas.microsoft.com/office/powerpoint/2010/main" val="11027627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8724A08-0282-12B9-C31A-06AB8AE36BFD}"/>
              </a:ext>
            </a:extLst>
          </p:cNvPr>
          <p:cNvPicPr>
            <a:picLocks noChangeAspect="1"/>
          </p:cNvPicPr>
          <p:nvPr/>
        </p:nvPicPr>
        <p:blipFill>
          <a:blip r:embed="rId2"/>
          <a:stretch>
            <a:fillRect/>
          </a:stretch>
        </p:blipFill>
        <p:spPr>
          <a:xfrm>
            <a:off x="1556017" y="0"/>
            <a:ext cx="9079966" cy="6858000"/>
          </a:xfrm>
          <a:prstGeom prst="rect">
            <a:avLst/>
          </a:prstGeom>
        </p:spPr>
      </p:pic>
    </p:spTree>
    <p:extLst>
      <p:ext uri="{BB962C8B-B14F-4D97-AF65-F5344CB8AC3E}">
        <p14:creationId xmlns:p14="http://schemas.microsoft.com/office/powerpoint/2010/main" val="17575164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316C030-C686-ED47-B057-22028A19BDE8}"/>
              </a:ext>
            </a:extLst>
          </p:cNvPr>
          <p:cNvPicPr>
            <a:picLocks noChangeAspect="1"/>
          </p:cNvPicPr>
          <p:nvPr/>
        </p:nvPicPr>
        <p:blipFill>
          <a:blip r:embed="rId2"/>
          <a:stretch>
            <a:fillRect/>
          </a:stretch>
        </p:blipFill>
        <p:spPr>
          <a:xfrm>
            <a:off x="0" y="795947"/>
            <a:ext cx="12192000" cy="5266106"/>
          </a:xfrm>
          <a:prstGeom prst="rect">
            <a:avLst/>
          </a:prstGeom>
        </p:spPr>
      </p:pic>
    </p:spTree>
    <p:extLst>
      <p:ext uri="{BB962C8B-B14F-4D97-AF65-F5344CB8AC3E}">
        <p14:creationId xmlns:p14="http://schemas.microsoft.com/office/powerpoint/2010/main" val="167065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1B8DE34-0927-500B-FC0F-00E231FD72DE}"/>
              </a:ext>
            </a:extLst>
          </p:cNvPr>
          <p:cNvPicPr>
            <a:picLocks noChangeAspect="1"/>
          </p:cNvPicPr>
          <p:nvPr/>
        </p:nvPicPr>
        <p:blipFill>
          <a:blip r:embed="rId2"/>
          <a:stretch>
            <a:fillRect/>
          </a:stretch>
        </p:blipFill>
        <p:spPr>
          <a:xfrm>
            <a:off x="0" y="1118343"/>
            <a:ext cx="12192000" cy="4621313"/>
          </a:xfrm>
          <a:prstGeom prst="rect">
            <a:avLst/>
          </a:prstGeom>
        </p:spPr>
      </p:pic>
    </p:spTree>
    <p:extLst>
      <p:ext uri="{BB962C8B-B14F-4D97-AF65-F5344CB8AC3E}">
        <p14:creationId xmlns:p14="http://schemas.microsoft.com/office/powerpoint/2010/main" val="614357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AAFD34-F52C-B352-DFDC-B901D9806F48}"/>
              </a:ext>
            </a:extLst>
          </p:cNvPr>
          <p:cNvPicPr>
            <a:picLocks noChangeAspect="1"/>
          </p:cNvPicPr>
          <p:nvPr/>
        </p:nvPicPr>
        <p:blipFill>
          <a:blip r:embed="rId2"/>
          <a:stretch>
            <a:fillRect/>
          </a:stretch>
        </p:blipFill>
        <p:spPr>
          <a:xfrm>
            <a:off x="0" y="1162899"/>
            <a:ext cx="12192000" cy="4532202"/>
          </a:xfrm>
          <a:prstGeom prst="rect">
            <a:avLst/>
          </a:prstGeom>
        </p:spPr>
      </p:pic>
    </p:spTree>
    <p:extLst>
      <p:ext uri="{BB962C8B-B14F-4D97-AF65-F5344CB8AC3E}">
        <p14:creationId xmlns:p14="http://schemas.microsoft.com/office/powerpoint/2010/main" val="2483791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A19C89-86E8-C5C7-B26C-3F93A9B5E205}"/>
              </a:ext>
            </a:extLst>
          </p:cNvPr>
          <p:cNvPicPr>
            <a:picLocks noChangeAspect="1"/>
          </p:cNvPicPr>
          <p:nvPr/>
        </p:nvPicPr>
        <p:blipFill>
          <a:blip r:embed="rId2"/>
          <a:stretch>
            <a:fillRect/>
          </a:stretch>
        </p:blipFill>
        <p:spPr>
          <a:xfrm>
            <a:off x="141314" y="0"/>
            <a:ext cx="11909372" cy="6858000"/>
          </a:xfrm>
          <a:prstGeom prst="rect">
            <a:avLst/>
          </a:prstGeom>
        </p:spPr>
      </p:pic>
    </p:spTree>
    <p:extLst>
      <p:ext uri="{BB962C8B-B14F-4D97-AF65-F5344CB8AC3E}">
        <p14:creationId xmlns:p14="http://schemas.microsoft.com/office/powerpoint/2010/main" val="8266192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C48768B-1942-92B2-184B-B6157003AB34}"/>
              </a:ext>
            </a:extLst>
          </p:cNvPr>
          <p:cNvPicPr>
            <a:picLocks noChangeAspect="1"/>
          </p:cNvPicPr>
          <p:nvPr/>
        </p:nvPicPr>
        <p:blipFill>
          <a:blip r:embed="rId2"/>
          <a:stretch>
            <a:fillRect/>
          </a:stretch>
        </p:blipFill>
        <p:spPr>
          <a:xfrm>
            <a:off x="468705" y="0"/>
            <a:ext cx="11254590" cy="6858000"/>
          </a:xfrm>
          <a:prstGeom prst="rect">
            <a:avLst/>
          </a:prstGeom>
        </p:spPr>
      </p:pic>
    </p:spTree>
    <p:extLst>
      <p:ext uri="{BB962C8B-B14F-4D97-AF65-F5344CB8AC3E}">
        <p14:creationId xmlns:p14="http://schemas.microsoft.com/office/powerpoint/2010/main" val="848167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D17276-FF6D-FA67-05C9-F5340347C178}"/>
              </a:ext>
            </a:extLst>
          </p:cNvPr>
          <p:cNvPicPr>
            <a:picLocks noChangeAspect="1"/>
          </p:cNvPicPr>
          <p:nvPr/>
        </p:nvPicPr>
        <p:blipFill>
          <a:blip r:embed="rId2"/>
          <a:stretch>
            <a:fillRect/>
          </a:stretch>
        </p:blipFill>
        <p:spPr>
          <a:xfrm>
            <a:off x="0" y="1392679"/>
            <a:ext cx="12192000" cy="5358233"/>
          </a:xfrm>
          <a:prstGeom prst="rect">
            <a:avLst/>
          </a:prstGeom>
        </p:spPr>
      </p:pic>
      <p:sp>
        <p:nvSpPr>
          <p:cNvPr id="4" name="Title 1">
            <a:extLst>
              <a:ext uri="{FF2B5EF4-FFF2-40B4-BE49-F238E27FC236}">
                <a16:creationId xmlns:a16="http://schemas.microsoft.com/office/drawing/2014/main" id="{54FB43E7-742F-AF5C-D38D-524B4C331D43}"/>
              </a:ext>
            </a:extLst>
          </p:cNvPr>
          <p:cNvSpPr txBox="1">
            <a:spLocks/>
          </p:cNvSpPr>
          <p:nvPr/>
        </p:nvSpPr>
        <p:spPr>
          <a:xfrm>
            <a:off x="913795" y="609600"/>
            <a:ext cx="10353762" cy="970450"/>
          </a:xfrm>
          <a:prstGeom prst="rect">
            <a:avLst/>
          </a:prstGeom>
        </p:spPr>
        <p:txBody>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دست چپ</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2552913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04D0-DAAF-5B04-416D-E9F25AB67AA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B2B2C8F-B758-57C4-A933-9D7FA86013B2}"/>
              </a:ext>
            </a:extLst>
          </p:cNvPr>
          <p:cNvSpPr txBox="1">
            <a:spLocks/>
          </p:cNvSpPr>
          <p:nvPr/>
        </p:nvSpPr>
        <p:spPr>
          <a:xfrm>
            <a:off x="919119" y="165980"/>
            <a:ext cx="10353762" cy="970450"/>
          </a:xfrm>
          <a:prstGeom prst="rect">
            <a:avLst/>
          </a:prstGeom>
        </p:spPr>
        <p:txBody>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دست راست</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pic>
        <p:nvPicPr>
          <p:cNvPr id="5" name="Picture 4">
            <a:extLst>
              <a:ext uri="{FF2B5EF4-FFF2-40B4-BE49-F238E27FC236}">
                <a16:creationId xmlns:a16="http://schemas.microsoft.com/office/drawing/2014/main" id="{0F1CCABD-BB54-A10B-4675-CB60F0647C61}"/>
              </a:ext>
            </a:extLst>
          </p:cNvPr>
          <p:cNvPicPr>
            <a:picLocks noChangeAspect="1"/>
          </p:cNvPicPr>
          <p:nvPr/>
        </p:nvPicPr>
        <p:blipFill>
          <a:blip r:embed="rId2"/>
          <a:stretch>
            <a:fillRect/>
          </a:stretch>
        </p:blipFill>
        <p:spPr>
          <a:xfrm>
            <a:off x="353085" y="975278"/>
            <a:ext cx="11294112" cy="5882722"/>
          </a:xfrm>
          <a:prstGeom prst="rect">
            <a:avLst/>
          </a:prstGeom>
        </p:spPr>
      </p:pic>
    </p:spTree>
    <p:extLst>
      <p:ext uri="{BB962C8B-B14F-4D97-AF65-F5344CB8AC3E}">
        <p14:creationId xmlns:p14="http://schemas.microsoft.com/office/powerpoint/2010/main" val="34090190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E6526B-0B91-A88F-5824-C57C11BB272B}"/>
              </a:ext>
            </a:extLst>
          </p:cNvPr>
          <p:cNvPicPr>
            <a:picLocks noChangeAspect="1"/>
          </p:cNvPicPr>
          <p:nvPr/>
        </p:nvPicPr>
        <p:blipFill>
          <a:blip r:embed="rId2"/>
          <a:stretch>
            <a:fillRect/>
          </a:stretch>
        </p:blipFill>
        <p:spPr>
          <a:xfrm>
            <a:off x="1149793" y="0"/>
            <a:ext cx="9892414" cy="6858000"/>
          </a:xfrm>
          <a:prstGeom prst="rect">
            <a:avLst/>
          </a:prstGeom>
        </p:spPr>
      </p:pic>
    </p:spTree>
    <p:extLst>
      <p:ext uri="{BB962C8B-B14F-4D97-AF65-F5344CB8AC3E}">
        <p14:creationId xmlns:p14="http://schemas.microsoft.com/office/powerpoint/2010/main" val="26625487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0359B67-E443-3231-E0C7-373DEF4E8A94}"/>
              </a:ext>
            </a:extLst>
          </p:cNvPr>
          <p:cNvSpPr txBox="1"/>
          <p:nvPr/>
        </p:nvSpPr>
        <p:spPr>
          <a:xfrm>
            <a:off x="1207045" y="1101023"/>
            <a:ext cx="9777909" cy="3416320"/>
          </a:xfrm>
          <a:prstGeom prst="rect">
            <a:avLst/>
          </a:prstGeom>
          <a:noFill/>
        </p:spPr>
        <p:txBody>
          <a:bodyPr wrap="square" rtlCol="0">
            <a:spAutoFit/>
          </a:bodyPr>
          <a:lstStyle/>
          <a:p>
            <a:r>
              <a:rPr lang="en-US" sz="7200" b="1" dirty="0">
                <a:latin typeface="Tahoma" panose="020B0604030504040204" pitchFamily="34" charset="0"/>
                <a:ea typeface="Tahoma" panose="020B0604030504040204" pitchFamily="34" charset="0"/>
                <a:cs typeface="Tahoma" panose="020B0604030504040204" pitchFamily="34" charset="0"/>
              </a:rPr>
              <a:t>Sad fad jar ear far sir air Sea led red use lie die rid aid</a:t>
            </a:r>
          </a:p>
        </p:txBody>
      </p:sp>
    </p:spTree>
    <p:extLst>
      <p:ext uri="{BB962C8B-B14F-4D97-AF65-F5344CB8AC3E}">
        <p14:creationId xmlns:p14="http://schemas.microsoft.com/office/powerpoint/2010/main" val="16976881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AC0DD0-A91B-F5E5-1757-E8F6728F45D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B0CCB6E-794D-E8E9-A9E7-5B720B4CA857}"/>
              </a:ext>
            </a:extLst>
          </p:cNvPr>
          <p:cNvSpPr txBox="1"/>
          <p:nvPr/>
        </p:nvSpPr>
        <p:spPr>
          <a:xfrm>
            <a:off x="1207045" y="1101023"/>
            <a:ext cx="9777909" cy="4524315"/>
          </a:xfrm>
          <a:prstGeom prst="rect">
            <a:avLst/>
          </a:prstGeom>
          <a:noFill/>
        </p:spPr>
        <p:txBody>
          <a:bodyPr wrap="square" rtlCol="0">
            <a:spAutoFit/>
          </a:bodyPr>
          <a:lstStyle/>
          <a:p>
            <a:r>
              <a:rPr lang="en-US" sz="7200" b="1" dirty="0">
                <a:latin typeface="Tahoma" panose="020B0604030504040204" pitchFamily="34" charset="0"/>
                <a:ea typeface="Tahoma" panose="020B0604030504040204" pitchFamily="34" charset="0"/>
                <a:cs typeface="Tahoma" panose="020B0604030504040204" pitchFamily="34" charset="0"/>
              </a:rPr>
              <a:t>Fire fair ride side real deal fail laid sure idea leaf read feel fear dare</a:t>
            </a:r>
          </a:p>
        </p:txBody>
      </p:sp>
    </p:spTree>
    <p:extLst>
      <p:ext uri="{BB962C8B-B14F-4D97-AF65-F5344CB8AC3E}">
        <p14:creationId xmlns:p14="http://schemas.microsoft.com/office/powerpoint/2010/main" val="32115708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B14CB-FB16-A6D7-B502-EF7A1ED97B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A371B2C-2B29-5849-31FA-B9B321BF0414}"/>
              </a:ext>
            </a:extLst>
          </p:cNvPr>
          <p:cNvSpPr txBox="1"/>
          <p:nvPr/>
        </p:nvSpPr>
        <p:spPr>
          <a:xfrm>
            <a:off x="1207045" y="747938"/>
            <a:ext cx="9777909" cy="5632311"/>
          </a:xfrm>
          <a:prstGeom prst="rect">
            <a:avLst/>
          </a:prstGeom>
          <a:noFill/>
        </p:spPr>
        <p:txBody>
          <a:bodyPr wrap="square" rtlCol="0">
            <a:spAutoFit/>
          </a:bodyPr>
          <a:lstStyle/>
          <a:p>
            <a:r>
              <a:rPr lang="en-US" sz="7200" b="1" dirty="0">
                <a:latin typeface="Tahoma" panose="020B0604030504040204" pitchFamily="34" charset="0"/>
                <a:ea typeface="Tahoma" panose="020B0604030504040204" pitchFamily="34" charset="0"/>
                <a:cs typeface="Tahoma" panose="020B0604030504040204" pitchFamily="34" charset="0"/>
              </a:rPr>
              <a:t>I feel sure.</a:t>
            </a:r>
          </a:p>
          <a:p>
            <a:r>
              <a:rPr lang="en-US" sz="7200" b="1" dirty="0">
                <a:latin typeface="Tahoma" panose="020B0604030504040204" pitchFamily="34" charset="0"/>
                <a:ea typeface="Tahoma" panose="020B0604030504040204" pitchFamily="34" charset="0"/>
                <a:cs typeface="Tahoma" panose="020B0604030504040204" pitchFamily="34" charset="0"/>
              </a:rPr>
              <a:t>She read a fair deal.</a:t>
            </a:r>
          </a:p>
          <a:p>
            <a:r>
              <a:rPr lang="en-US" sz="7200" b="1" dirty="0">
                <a:latin typeface="Tahoma" panose="020B0604030504040204" pitchFamily="34" charset="0"/>
                <a:ea typeface="Tahoma" panose="020B0604030504040204" pitchFamily="34" charset="0"/>
                <a:cs typeface="Tahoma" panose="020B0604030504040204" pitchFamily="34" charset="0"/>
              </a:rPr>
              <a:t>A red jar fell.</a:t>
            </a:r>
          </a:p>
          <a:p>
            <a:r>
              <a:rPr lang="en-US" sz="7200" b="1" dirty="0">
                <a:latin typeface="Tahoma" panose="020B0604030504040204" pitchFamily="34" charset="0"/>
                <a:ea typeface="Tahoma" panose="020B0604030504040204" pitchFamily="34" charset="0"/>
                <a:cs typeface="Tahoma" panose="020B0604030504040204" pitchFamily="34" charset="0"/>
              </a:rPr>
              <a:t>We ride far.</a:t>
            </a:r>
          </a:p>
          <a:p>
            <a:r>
              <a:rPr lang="en-US" sz="7200" b="1" dirty="0">
                <a:latin typeface="Tahoma" panose="020B0604030504040204" pitchFamily="34" charset="0"/>
                <a:ea typeface="Tahoma" panose="020B0604030504040204" pitchFamily="34" charset="0"/>
                <a:cs typeface="Tahoma" panose="020B0604030504040204" pitchFamily="34" charset="0"/>
              </a:rPr>
              <a:t>Use real ideas.</a:t>
            </a:r>
          </a:p>
        </p:txBody>
      </p:sp>
    </p:spTree>
    <p:extLst>
      <p:ext uri="{BB962C8B-B14F-4D97-AF65-F5344CB8AC3E}">
        <p14:creationId xmlns:p14="http://schemas.microsoft.com/office/powerpoint/2010/main" val="8507964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BB3126-8E7D-D7AE-50A7-1415366141D8}"/>
              </a:ext>
            </a:extLst>
          </p:cNvPr>
          <p:cNvSpPr txBox="1"/>
          <p:nvPr/>
        </p:nvSpPr>
        <p:spPr>
          <a:xfrm>
            <a:off x="1152544" y="148431"/>
            <a:ext cx="9777909" cy="6278642"/>
          </a:xfrm>
          <a:prstGeom prst="rect">
            <a:avLst/>
          </a:prstGeom>
          <a:noFill/>
        </p:spPr>
        <p:txBody>
          <a:bodyPr wrap="square" rtlCol="0">
            <a:spAutoFit/>
          </a:bodyPr>
          <a:lstStyle/>
          <a:p>
            <a:pPr algn="ctr">
              <a:lnSpc>
                <a:spcPct val="150000"/>
              </a:lnSpc>
            </a:pPr>
            <a:r>
              <a:rPr lang="fa-IR" sz="4800" b="1" dirty="0">
                <a:solidFill>
                  <a:srgbClr val="92D050"/>
                </a:solidFill>
                <a:latin typeface="IRANSans" panose="02040503050201020203" pitchFamily="18" charset="-78"/>
                <a:ea typeface="Tahoma" panose="020B0604030504040204" pitchFamily="34" charset="0"/>
                <a:cs typeface="IRANSans" panose="02040503050201020203" pitchFamily="18" charset="-78"/>
              </a:rPr>
              <a:t>تکلیف:</a:t>
            </a:r>
          </a:p>
          <a:p>
            <a:pPr algn="ctr" rtl="1">
              <a:lnSpc>
                <a:spcPct val="150000"/>
              </a:lnSpc>
            </a:pPr>
            <a:r>
              <a:rPr lang="fa-IR" sz="4400" b="1" dirty="0">
                <a:latin typeface="IRANSans" panose="02040503050201020203" pitchFamily="18" charset="-78"/>
                <a:ea typeface="Tahoma" panose="020B0604030504040204" pitchFamily="34" charset="0"/>
                <a:cs typeface="IRANSans" panose="02040503050201020203" pitchFamily="18" charset="-78"/>
              </a:rPr>
              <a:t>سرعت تایپ خود را با استفاده از سایت زیر  بدست آورده و از صفحه عکس بگیرید و بفرستید</a:t>
            </a:r>
            <a:r>
              <a:rPr lang="en-US" sz="4400" b="1" dirty="0">
                <a:latin typeface="IRANSans" panose="02040503050201020203" pitchFamily="18" charset="-78"/>
                <a:ea typeface="Tahoma" panose="020B0604030504040204" pitchFamily="34" charset="0"/>
                <a:cs typeface="IRANSans" panose="02040503050201020203" pitchFamily="18" charset="-78"/>
              </a:rPr>
              <a:t>.</a:t>
            </a:r>
            <a:r>
              <a:rPr lang="fa-IR" sz="4400" b="1" dirty="0">
                <a:latin typeface="IRANSans" panose="02040503050201020203" pitchFamily="18" charset="-78"/>
                <a:ea typeface="Tahoma" panose="020B0604030504040204" pitchFamily="34" charset="0"/>
                <a:cs typeface="IRANSans" panose="02040503050201020203" pitchFamily="18" charset="-78"/>
              </a:rPr>
              <a:t> (آی دی بله: </a:t>
            </a:r>
            <a:r>
              <a:rPr lang="en-US" sz="4400" b="1" dirty="0" err="1">
                <a:latin typeface="IRANSans" panose="02040503050201020203" pitchFamily="18" charset="-78"/>
                <a:ea typeface="Tahoma" panose="020B0604030504040204" pitchFamily="34" charset="0"/>
                <a:cs typeface="IRANSans" panose="02040503050201020203" pitchFamily="18" charset="-78"/>
              </a:rPr>
              <a:t>fdmxfarhan</a:t>
            </a:r>
            <a:r>
              <a:rPr lang="fa-IR" sz="4400" b="1" dirty="0">
                <a:latin typeface="IRANSans" panose="02040503050201020203" pitchFamily="18" charset="-78"/>
                <a:ea typeface="Tahoma" panose="020B0604030504040204" pitchFamily="34" charset="0"/>
                <a:cs typeface="IRANSans" panose="02040503050201020203" pitchFamily="18" charset="-78"/>
              </a:rPr>
              <a:t>)</a:t>
            </a:r>
          </a:p>
          <a:p>
            <a:pPr algn="ctr" rtl="1">
              <a:lnSpc>
                <a:spcPct val="150000"/>
              </a:lnSpc>
            </a:pPr>
            <a:r>
              <a:rPr lang="fa-IR" sz="4400" b="1" dirty="0">
                <a:latin typeface="IRANSans" panose="02040503050201020203" pitchFamily="18" charset="-78"/>
                <a:ea typeface="Tahoma" panose="020B0604030504040204" pitchFamily="34" charset="0"/>
                <a:cs typeface="IRANSans" panose="02040503050201020203" pitchFamily="18" charset="-78"/>
              </a:rPr>
              <a:t>09336448037</a:t>
            </a:r>
          </a:p>
          <a:p>
            <a:pPr algn="l">
              <a:lnSpc>
                <a:spcPct val="150000"/>
              </a:lnSpc>
            </a:pPr>
            <a:r>
              <a:rPr lang="en-US" sz="4800" b="1" dirty="0">
                <a:solidFill>
                  <a:srgbClr val="00B0F0"/>
                </a:solidFill>
                <a:latin typeface="IRANSans" panose="02040503050201020203" pitchFamily="18" charset="-78"/>
                <a:ea typeface="Tahoma" panose="020B0604030504040204" pitchFamily="34" charset="0"/>
                <a:cs typeface="IRANSans" panose="02040503050201020203" pitchFamily="18" charset="-78"/>
              </a:rPr>
              <a:t>play.typeracer.com</a:t>
            </a:r>
          </a:p>
        </p:txBody>
      </p:sp>
    </p:spTree>
    <p:extLst>
      <p:ext uri="{BB962C8B-B14F-4D97-AF65-F5344CB8AC3E}">
        <p14:creationId xmlns:p14="http://schemas.microsoft.com/office/powerpoint/2010/main" val="31299734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F2FD1-9F7E-CBE8-1582-2D9CA62A6D2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057E6C9-6C78-7472-E4ED-AC3BF6D48DCC}"/>
              </a:ext>
            </a:extLst>
          </p:cNvPr>
          <p:cNvSpPr txBox="1"/>
          <p:nvPr/>
        </p:nvSpPr>
        <p:spPr>
          <a:xfrm>
            <a:off x="1152544" y="148431"/>
            <a:ext cx="9777909" cy="5655394"/>
          </a:xfrm>
          <a:prstGeom prst="rect">
            <a:avLst/>
          </a:prstGeom>
          <a:noFill/>
        </p:spPr>
        <p:txBody>
          <a:bodyPr wrap="square" rtlCol="0">
            <a:spAutoFit/>
          </a:bodyPr>
          <a:lstStyle/>
          <a:p>
            <a:pPr algn="ctr">
              <a:lnSpc>
                <a:spcPct val="150000"/>
              </a:lnSpc>
            </a:pPr>
            <a:r>
              <a:rPr lang="fa-IR" sz="6600" b="1" dirty="0">
                <a:solidFill>
                  <a:srgbClr val="92D050"/>
                </a:solidFill>
                <a:latin typeface="IRANSans" panose="02040503050201020203" pitchFamily="18" charset="-78"/>
                <a:ea typeface="Tahoma" panose="020B0604030504040204" pitchFamily="34" charset="0"/>
                <a:cs typeface="IRANSans" panose="02040503050201020203" pitchFamily="18" charset="-78"/>
              </a:rPr>
              <a:t>وایفای:</a:t>
            </a:r>
          </a:p>
          <a:p>
            <a:pPr algn="ctr" rtl="1">
              <a:lnSpc>
                <a:spcPct val="150000"/>
              </a:lnSpc>
            </a:pPr>
            <a:r>
              <a:rPr lang="en-US" sz="6000" b="1" dirty="0">
                <a:latin typeface="IRANSans" panose="02040503050201020203" pitchFamily="18" charset="-78"/>
                <a:ea typeface="Tahoma" panose="020B0604030504040204" pitchFamily="34" charset="0"/>
                <a:cs typeface="IRANSans" panose="02040503050201020203" pitchFamily="18" charset="-78"/>
              </a:rPr>
              <a:t>Farhan</a:t>
            </a:r>
          </a:p>
          <a:p>
            <a:pPr algn="ctr" rtl="1">
              <a:lnSpc>
                <a:spcPct val="150000"/>
              </a:lnSpc>
            </a:pPr>
            <a:r>
              <a:rPr lang="en-US" sz="6000" b="1" dirty="0">
                <a:latin typeface="IRANSans" panose="02040503050201020203" pitchFamily="18" charset="-78"/>
                <a:ea typeface="Tahoma" panose="020B0604030504040204" pitchFamily="34" charset="0"/>
                <a:cs typeface="IRANSans" panose="02040503050201020203" pitchFamily="18" charset="-78"/>
              </a:rPr>
              <a:t>12345678</a:t>
            </a:r>
          </a:p>
          <a:p>
            <a:pPr algn="ctr" rtl="1">
              <a:lnSpc>
                <a:spcPct val="150000"/>
              </a:lnSpc>
            </a:pPr>
            <a:r>
              <a:rPr lang="en-US" sz="6000" b="1" dirty="0">
                <a:latin typeface="IRANSans" panose="02040503050201020203" pitchFamily="18" charset="-78"/>
                <a:ea typeface="Tahoma" panose="020B0604030504040204" pitchFamily="34" charset="0"/>
                <a:cs typeface="IRANSans" panose="02040503050201020203" pitchFamily="18" charset="-78"/>
              </a:rPr>
              <a:t>10.81.240.30:3000</a:t>
            </a:r>
            <a:endParaRPr lang="fa-IR" sz="6000" b="1" dirty="0">
              <a:latin typeface="IRANSans" panose="02040503050201020203" pitchFamily="18" charset="-78"/>
              <a:ea typeface="Tahoma" panose="020B0604030504040204" pitchFamily="34" charset="0"/>
              <a:cs typeface="IRANSans" panose="02040503050201020203" pitchFamily="18" charset="-78"/>
            </a:endParaRPr>
          </a:p>
        </p:txBody>
      </p:sp>
    </p:spTree>
    <p:extLst>
      <p:ext uri="{BB962C8B-B14F-4D97-AF65-F5344CB8AC3E}">
        <p14:creationId xmlns:p14="http://schemas.microsoft.com/office/powerpoint/2010/main" val="755525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57219-F361-5D1A-6CAB-979AD853E5A7}"/>
              </a:ext>
            </a:extLst>
          </p:cNvPr>
          <p:cNvSpPr>
            <a:spLocks noGrp="1"/>
          </p:cNvSpPr>
          <p:nvPr>
            <p:ph type="title"/>
          </p:nvPr>
        </p:nvSpPr>
        <p:spPr/>
        <p:txBody>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عملگر های محاسباتی</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graphicFrame>
        <p:nvGraphicFramePr>
          <p:cNvPr id="10" name="Content Placeholder 9">
            <a:extLst>
              <a:ext uri="{FF2B5EF4-FFF2-40B4-BE49-F238E27FC236}">
                <a16:creationId xmlns:a16="http://schemas.microsoft.com/office/drawing/2014/main" id="{9577825F-D4AD-7EA5-6200-551AD2EFF0E3}"/>
              </a:ext>
            </a:extLst>
          </p:cNvPr>
          <p:cNvGraphicFramePr>
            <a:graphicFrameLocks noGrp="1"/>
          </p:cNvGraphicFramePr>
          <p:nvPr>
            <p:ph idx="1"/>
            <p:extLst>
              <p:ext uri="{D42A27DB-BD31-4B8C-83A1-F6EECF244321}">
                <p14:modId xmlns:p14="http://schemas.microsoft.com/office/powerpoint/2010/main" val="3611117927"/>
              </p:ext>
            </p:extLst>
          </p:nvPr>
        </p:nvGraphicFramePr>
        <p:xfrm>
          <a:off x="914400" y="1731963"/>
          <a:ext cx="10353675" cy="4389120"/>
        </p:xfrm>
        <a:graphic>
          <a:graphicData uri="http://schemas.openxmlformats.org/drawingml/2006/table">
            <a:tbl>
              <a:tblPr firstRow="1" bandRow="1">
                <a:tableStyleId>{7E9639D4-E3E2-4D34-9284-5A2195B3D0D7}</a:tableStyleId>
              </a:tblPr>
              <a:tblGrid>
                <a:gridCol w="3451225">
                  <a:extLst>
                    <a:ext uri="{9D8B030D-6E8A-4147-A177-3AD203B41FA5}">
                      <a16:colId xmlns:a16="http://schemas.microsoft.com/office/drawing/2014/main" val="2934540765"/>
                    </a:ext>
                  </a:extLst>
                </a:gridCol>
                <a:gridCol w="3451225">
                  <a:extLst>
                    <a:ext uri="{9D8B030D-6E8A-4147-A177-3AD203B41FA5}">
                      <a16:colId xmlns:a16="http://schemas.microsoft.com/office/drawing/2014/main" val="3309740010"/>
                    </a:ext>
                  </a:extLst>
                </a:gridCol>
                <a:gridCol w="3451225">
                  <a:extLst>
                    <a:ext uri="{9D8B030D-6E8A-4147-A177-3AD203B41FA5}">
                      <a16:colId xmlns:a16="http://schemas.microsoft.com/office/drawing/2014/main" val="1664283581"/>
                    </a:ext>
                  </a:extLst>
                </a:gridCol>
              </a:tblGrid>
              <a:tr h="548640">
                <a:tc>
                  <a:txBody>
                    <a:bodyPr/>
                    <a:lstStyle/>
                    <a:p>
                      <a:pPr algn="ctr" rtl="1"/>
                      <a:r>
                        <a:rPr lang="fa-IR" dirty="0">
                          <a:latin typeface="IRANSans" panose="02040503050201020203" pitchFamily="18" charset="-78"/>
                          <a:cs typeface="IRANSans" panose="02040503050201020203" pitchFamily="18" charset="-78"/>
                        </a:rPr>
                        <a:t>عملگر</a:t>
                      </a:r>
                      <a:endParaRPr lang="en-US" dirty="0">
                        <a:latin typeface="IRANSans" panose="02040503050201020203" pitchFamily="18" charset="-78"/>
                        <a:cs typeface="IRANSans" panose="02040503050201020203" pitchFamily="18" charset="-78"/>
                      </a:endParaRPr>
                    </a:p>
                  </a:txBody>
                  <a:tcPr anchor="ctr"/>
                </a:tc>
                <a:tc>
                  <a:txBody>
                    <a:bodyPr/>
                    <a:lstStyle/>
                    <a:p>
                      <a:pPr algn="ctr" rtl="1"/>
                      <a:r>
                        <a:rPr lang="fa-IR" dirty="0">
                          <a:latin typeface="IRANSans" panose="02040503050201020203" pitchFamily="18" charset="-78"/>
                          <a:cs typeface="IRANSans" panose="02040503050201020203" pitchFamily="18" charset="-78"/>
                        </a:rPr>
                        <a:t>کاربرد</a:t>
                      </a:r>
                      <a:endParaRPr lang="en-US" dirty="0">
                        <a:latin typeface="IRANSans" panose="02040503050201020203" pitchFamily="18" charset="-78"/>
                        <a:cs typeface="IRANSans" panose="02040503050201020203" pitchFamily="18" charset="-78"/>
                      </a:endParaRPr>
                    </a:p>
                  </a:txBody>
                  <a:tcPr anchor="ctr"/>
                </a:tc>
                <a:tc>
                  <a:txBody>
                    <a:bodyPr/>
                    <a:lstStyle/>
                    <a:p>
                      <a:pPr algn="ctr" rtl="1"/>
                      <a:r>
                        <a:rPr lang="fa-IR" dirty="0">
                          <a:latin typeface="IRANSans" panose="02040503050201020203" pitchFamily="18" charset="-78"/>
                          <a:cs typeface="IRANSans" panose="02040503050201020203" pitchFamily="18" charset="-78"/>
                        </a:rPr>
                        <a:t>مثال</a:t>
                      </a:r>
                      <a:endParaRPr lang="en-US" dirty="0">
                        <a:latin typeface="IRANSans" panose="02040503050201020203" pitchFamily="18" charset="-78"/>
                        <a:cs typeface="IRANSans" panose="02040503050201020203" pitchFamily="18" charset="-78"/>
                      </a:endParaRPr>
                    </a:p>
                  </a:txBody>
                  <a:tcPr anchor="ctr"/>
                </a:tc>
                <a:extLst>
                  <a:ext uri="{0D108BD9-81ED-4DB2-BD59-A6C34878D82A}">
                    <a16:rowId xmlns:a16="http://schemas.microsoft.com/office/drawing/2014/main" val="382717388"/>
                  </a:ext>
                </a:extLst>
              </a:tr>
              <a:tr h="548640">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جمع</a:t>
                      </a:r>
                      <a:endParaRPr lang="en-US" dirty="0">
                        <a:latin typeface="IRANSans" panose="02040503050201020203" pitchFamily="18" charset="-78"/>
                        <a:cs typeface="IRANSans" panose="02040503050201020203" pitchFamily="18" charset="-78"/>
                      </a:endParaRPr>
                    </a:p>
                  </a:txBody>
                  <a:tcPr anchor="ctr"/>
                </a:tc>
                <a:tc>
                  <a:txBody>
                    <a:bodyPr/>
                    <a:lstStyle/>
                    <a:p>
                      <a:pPr algn="ctr" rtl="0"/>
                      <a:r>
                        <a:rPr lang="en-US" dirty="0">
                          <a:latin typeface="IRANSans" panose="02040503050201020203" pitchFamily="18" charset="-78"/>
                          <a:cs typeface="IRANSans" panose="02040503050201020203" pitchFamily="18" charset="-78"/>
                        </a:rPr>
                        <a:t>2 + 4 = 6</a:t>
                      </a:r>
                    </a:p>
                  </a:txBody>
                  <a:tcPr anchor="ctr"/>
                </a:tc>
                <a:extLst>
                  <a:ext uri="{0D108BD9-81ED-4DB2-BD59-A6C34878D82A}">
                    <a16:rowId xmlns:a16="http://schemas.microsoft.com/office/drawing/2014/main" val="3423893147"/>
                  </a:ext>
                </a:extLst>
              </a:tr>
              <a:tr h="548640">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تفریق</a:t>
                      </a:r>
                      <a:endParaRPr lang="en-US" dirty="0">
                        <a:latin typeface="IRANSans" panose="02040503050201020203" pitchFamily="18" charset="-78"/>
                        <a:cs typeface="IRANSans" panose="02040503050201020203" pitchFamily="18" charset="-78"/>
                      </a:endParaRPr>
                    </a:p>
                  </a:txBody>
                  <a:tcPr anchor="ctr"/>
                </a:tc>
                <a:tc>
                  <a:txBody>
                    <a:bodyPr/>
                    <a:lstStyle/>
                    <a:p>
                      <a:pPr algn="ctr" rtl="0"/>
                      <a:r>
                        <a:rPr lang="en-US" dirty="0">
                          <a:latin typeface="IRANSans" panose="02040503050201020203" pitchFamily="18" charset="-78"/>
                          <a:cs typeface="IRANSans" panose="02040503050201020203" pitchFamily="18" charset="-78"/>
                        </a:rPr>
                        <a:t>6 – 3 = 3</a:t>
                      </a:r>
                    </a:p>
                  </a:txBody>
                  <a:tcPr anchor="ctr"/>
                </a:tc>
                <a:extLst>
                  <a:ext uri="{0D108BD9-81ED-4DB2-BD59-A6C34878D82A}">
                    <a16:rowId xmlns:a16="http://schemas.microsoft.com/office/drawing/2014/main" val="3566728408"/>
                  </a:ext>
                </a:extLst>
              </a:tr>
              <a:tr h="548640">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ضرب</a:t>
                      </a:r>
                      <a:endParaRPr lang="en-US" dirty="0">
                        <a:latin typeface="IRANSans" panose="02040503050201020203" pitchFamily="18" charset="-78"/>
                        <a:cs typeface="IRANSans" panose="02040503050201020203" pitchFamily="18" charset="-78"/>
                      </a:endParaRPr>
                    </a:p>
                  </a:txBody>
                  <a:tcPr anchor="ctr"/>
                </a:tc>
                <a:tc>
                  <a:txBody>
                    <a:bodyPr/>
                    <a:lstStyle/>
                    <a:p>
                      <a:pPr algn="ctr" rtl="0"/>
                      <a:r>
                        <a:rPr lang="en-US" dirty="0">
                          <a:latin typeface="IRANSans" panose="02040503050201020203" pitchFamily="18" charset="-78"/>
                          <a:cs typeface="IRANSans" panose="02040503050201020203" pitchFamily="18" charset="-78"/>
                        </a:rPr>
                        <a:t>4 * 3 = 12</a:t>
                      </a:r>
                    </a:p>
                  </a:txBody>
                  <a:tcPr anchor="ctr"/>
                </a:tc>
                <a:extLst>
                  <a:ext uri="{0D108BD9-81ED-4DB2-BD59-A6C34878D82A}">
                    <a16:rowId xmlns:a16="http://schemas.microsoft.com/office/drawing/2014/main" val="3418300197"/>
                  </a:ext>
                </a:extLst>
              </a:tr>
              <a:tr h="548640">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تقسیم</a:t>
                      </a:r>
                      <a:endParaRPr lang="en-US" dirty="0">
                        <a:latin typeface="IRANSans" panose="02040503050201020203" pitchFamily="18" charset="-78"/>
                        <a:cs typeface="IRANSans" panose="02040503050201020203" pitchFamily="18" charset="-78"/>
                      </a:endParaRPr>
                    </a:p>
                  </a:txBody>
                  <a:tcPr anchor="ctr"/>
                </a:tc>
                <a:tc>
                  <a:txBody>
                    <a:bodyPr/>
                    <a:lstStyle/>
                    <a:p>
                      <a:pPr algn="ctr" rtl="0"/>
                      <a:r>
                        <a:rPr lang="en-US" dirty="0">
                          <a:latin typeface="IRANSans" panose="02040503050201020203" pitchFamily="18" charset="-78"/>
                          <a:cs typeface="IRANSans" panose="02040503050201020203" pitchFamily="18" charset="-78"/>
                        </a:rPr>
                        <a:t>8 / 2 = 4</a:t>
                      </a:r>
                    </a:p>
                  </a:txBody>
                  <a:tcPr anchor="ctr"/>
                </a:tc>
                <a:extLst>
                  <a:ext uri="{0D108BD9-81ED-4DB2-BD59-A6C34878D82A}">
                    <a16:rowId xmlns:a16="http://schemas.microsoft.com/office/drawing/2014/main" val="1018370932"/>
                  </a:ext>
                </a:extLst>
              </a:tr>
              <a:tr h="548640">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باقی مانده تقسیم</a:t>
                      </a:r>
                    </a:p>
                  </a:txBody>
                  <a:tcPr anchor="ctr"/>
                </a:tc>
                <a:tc>
                  <a:txBody>
                    <a:bodyPr/>
                    <a:lstStyle/>
                    <a:p>
                      <a:pPr algn="ctr" rtl="0"/>
                      <a:r>
                        <a:rPr lang="en-US" dirty="0">
                          <a:latin typeface="IRANSans" panose="02040503050201020203" pitchFamily="18" charset="-78"/>
                          <a:cs typeface="IRANSans" panose="02040503050201020203" pitchFamily="18" charset="-78"/>
                        </a:rPr>
                        <a:t>5 % 2 = 1</a:t>
                      </a:r>
                    </a:p>
                  </a:txBody>
                  <a:tcPr anchor="ctr"/>
                </a:tc>
                <a:extLst>
                  <a:ext uri="{0D108BD9-81ED-4DB2-BD59-A6C34878D82A}">
                    <a16:rowId xmlns:a16="http://schemas.microsoft.com/office/drawing/2014/main" val="1966437524"/>
                  </a:ext>
                </a:extLst>
              </a:tr>
              <a:tr h="548640">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توان</a:t>
                      </a:r>
                      <a:endParaRPr lang="en-US" dirty="0">
                        <a:latin typeface="IRANSans" panose="02040503050201020203" pitchFamily="18" charset="-78"/>
                        <a:cs typeface="IRANSans" panose="02040503050201020203" pitchFamily="18" charset="-78"/>
                      </a:endParaRPr>
                    </a:p>
                  </a:txBody>
                  <a:tcPr anchor="ctr"/>
                </a:tc>
                <a:tc>
                  <a:txBody>
                    <a:bodyPr/>
                    <a:lstStyle/>
                    <a:p>
                      <a:pPr algn="ctr" rtl="0"/>
                      <a:r>
                        <a:rPr lang="en-US" dirty="0">
                          <a:latin typeface="IRANSans" panose="02040503050201020203" pitchFamily="18" charset="-78"/>
                          <a:cs typeface="IRANSans" panose="02040503050201020203" pitchFamily="18" charset="-78"/>
                        </a:rPr>
                        <a:t>2 ** 3 = 8</a:t>
                      </a:r>
                    </a:p>
                  </a:txBody>
                  <a:tcPr anchor="ctr"/>
                </a:tc>
                <a:extLst>
                  <a:ext uri="{0D108BD9-81ED-4DB2-BD59-A6C34878D82A}">
                    <a16:rowId xmlns:a16="http://schemas.microsoft.com/office/drawing/2014/main" val="3655441933"/>
                  </a:ext>
                </a:extLst>
              </a:tr>
              <a:tr h="548640">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خارج قسمت صحیح</a:t>
                      </a:r>
                      <a:endParaRPr lang="en-US" dirty="0">
                        <a:latin typeface="IRANSans" panose="02040503050201020203" pitchFamily="18" charset="-78"/>
                        <a:cs typeface="IRANSans" panose="02040503050201020203" pitchFamily="18" charset="-78"/>
                      </a:endParaRPr>
                    </a:p>
                  </a:txBody>
                  <a:tcPr anchor="ctr"/>
                </a:tc>
                <a:tc>
                  <a:txBody>
                    <a:bodyPr/>
                    <a:lstStyle/>
                    <a:p>
                      <a:pPr algn="ctr" rtl="0"/>
                      <a:r>
                        <a:rPr lang="en-US" dirty="0">
                          <a:latin typeface="IRANSans" panose="02040503050201020203" pitchFamily="18" charset="-78"/>
                          <a:cs typeface="IRANSans" panose="02040503050201020203" pitchFamily="18" charset="-78"/>
                        </a:rPr>
                        <a:t>9 // 5 = 1</a:t>
                      </a:r>
                    </a:p>
                  </a:txBody>
                  <a:tcPr anchor="ctr"/>
                </a:tc>
                <a:extLst>
                  <a:ext uri="{0D108BD9-81ED-4DB2-BD59-A6C34878D82A}">
                    <a16:rowId xmlns:a16="http://schemas.microsoft.com/office/drawing/2014/main" val="417824085"/>
                  </a:ext>
                </a:extLst>
              </a:tr>
            </a:tbl>
          </a:graphicData>
        </a:graphic>
      </p:graphicFrame>
    </p:spTree>
    <p:extLst>
      <p:ext uri="{BB962C8B-B14F-4D97-AF65-F5344CB8AC3E}">
        <p14:creationId xmlns:p14="http://schemas.microsoft.com/office/powerpoint/2010/main" val="30835251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5177C-A9C7-A691-027F-A538738535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E020A8-BAF3-8C77-2F81-C503825353E3}"/>
              </a:ext>
            </a:extLst>
          </p:cNvPr>
          <p:cNvSpPr>
            <a:spLocks noGrp="1"/>
          </p:cNvSpPr>
          <p:nvPr>
            <p:ph type="title"/>
          </p:nvPr>
        </p:nvSpPr>
        <p:spPr/>
        <p:txBody>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انواع داده ها</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17265A66-3A61-4139-52AD-7C4B184B3F59}"/>
              </a:ext>
            </a:extLst>
          </p:cNvPr>
          <p:cNvSpPr>
            <a:spLocks noGrp="1"/>
          </p:cNvSpPr>
          <p:nvPr>
            <p:ph idx="1"/>
          </p:nvPr>
        </p:nvSpPr>
        <p:spPr/>
        <p:txBody>
          <a:bodyPr/>
          <a:lstStyle/>
          <a:p>
            <a:pPr algn="r" rtl="1"/>
            <a:endParaRPr lang="en-US" dirty="0">
              <a:latin typeface="IRANSans" panose="02040503050201020203" pitchFamily="18" charset="-78"/>
              <a:cs typeface="IRANSans" panose="02040503050201020203" pitchFamily="18" charset="-78"/>
            </a:endParaRPr>
          </a:p>
        </p:txBody>
      </p:sp>
      <p:sp>
        <p:nvSpPr>
          <p:cNvPr id="4" name="Rectangle: Rounded Corners 3">
            <a:extLst>
              <a:ext uri="{FF2B5EF4-FFF2-40B4-BE49-F238E27FC236}">
                <a16:creationId xmlns:a16="http://schemas.microsoft.com/office/drawing/2014/main" id="{D96EB9DA-A0F2-CC3C-F03F-4E16FB38D6F2}"/>
              </a:ext>
            </a:extLst>
          </p:cNvPr>
          <p:cNvSpPr/>
          <p:nvPr/>
        </p:nvSpPr>
        <p:spPr>
          <a:xfrm>
            <a:off x="1284648" y="2468319"/>
            <a:ext cx="3567843" cy="3567843"/>
          </a:xfrm>
          <a:prstGeom prst="round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800" b="1" dirty="0">
                <a:solidFill>
                  <a:schemeClr val="tx1"/>
                </a:solidFill>
                <a:latin typeface="IRANSans" panose="02040503050201020203" pitchFamily="18" charset="-78"/>
                <a:cs typeface="IRANSans" panose="02040503050201020203" pitchFamily="18" charset="-78"/>
              </a:rPr>
              <a:t>داده های عددی</a:t>
            </a:r>
            <a:endParaRPr lang="en-US" sz="2800" b="1" dirty="0">
              <a:solidFill>
                <a:schemeClr val="tx1"/>
              </a:solidFill>
              <a:latin typeface="IRANSans" panose="02040503050201020203" pitchFamily="18" charset="-78"/>
              <a:cs typeface="IRANSans" panose="02040503050201020203" pitchFamily="18" charset="-78"/>
            </a:endParaRPr>
          </a:p>
          <a:p>
            <a:pPr algn="ctr"/>
            <a:endParaRPr lang="en-US" sz="2800" b="1" dirty="0">
              <a:solidFill>
                <a:schemeClr val="tx1"/>
              </a:solidFill>
              <a:latin typeface="IRANSans" panose="02040503050201020203" pitchFamily="18" charset="-78"/>
              <a:cs typeface="IRANSans" panose="02040503050201020203" pitchFamily="18" charset="-78"/>
            </a:endParaRPr>
          </a:p>
          <a:p>
            <a:pPr algn="ctr"/>
            <a:r>
              <a:rPr lang="en-US" sz="2800" b="1" dirty="0">
                <a:solidFill>
                  <a:schemeClr val="tx1"/>
                </a:solidFill>
                <a:latin typeface="IRANSans" panose="02040503050201020203" pitchFamily="18" charset="-78"/>
                <a:cs typeface="IRANSans" panose="02040503050201020203" pitchFamily="18" charset="-78"/>
              </a:rPr>
              <a:t>13</a:t>
            </a:r>
          </a:p>
          <a:p>
            <a:pPr algn="ctr"/>
            <a:r>
              <a:rPr lang="en-US" sz="2800" b="1" dirty="0">
                <a:solidFill>
                  <a:schemeClr val="tx1"/>
                </a:solidFill>
                <a:latin typeface="IRANSans" panose="02040503050201020203" pitchFamily="18" charset="-78"/>
                <a:cs typeface="IRANSans" panose="02040503050201020203" pitchFamily="18" charset="-78"/>
              </a:rPr>
              <a:t>4.65</a:t>
            </a:r>
          </a:p>
          <a:p>
            <a:pPr algn="ctr"/>
            <a:endParaRPr lang="en-US" sz="2800" b="1" dirty="0">
              <a:solidFill>
                <a:schemeClr val="tx1"/>
              </a:solidFill>
              <a:latin typeface="IRANSans" panose="02040503050201020203" pitchFamily="18" charset="-78"/>
              <a:cs typeface="IRANSans" panose="02040503050201020203" pitchFamily="18" charset="-78"/>
            </a:endParaRPr>
          </a:p>
        </p:txBody>
      </p:sp>
      <p:sp>
        <p:nvSpPr>
          <p:cNvPr id="5" name="Rectangle: Rounded Corners 4">
            <a:extLst>
              <a:ext uri="{FF2B5EF4-FFF2-40B4-BE49-F238E27FC236}">
                <a16:creationId xmlns:a16="http://schemas.microsoft.com/office/drawing/2014/main" id="{90294A6C-757A-2CCD-6ACE-5A864CEE9EB3}"/>
              </a:ext>
            </a:extLst>
          </p:cNvPr>
          <p:cNvSpPr/>
          <p:nvPr/>
        </p:nvSpPr>
        <p:spPr>
          <a:xfrm>
            <a:off x="7339511" y="2468318"/>
            <a:ext cx="3567843" cy="3567843"/>
          </a:xfrm>
          <a:prstGeom prst="round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a-IR" sz="2800" b="1" dirty="0">
                <a:solidFill>
                  <a:schemeClr val="tx1"/>
                </a:solidFill>
                <a:latin typeface="IRANSans" panose="02040503050201020203" pitchFamily="18" charset="-78"/>
                <a:cs typeface="IRANSans" panose="02040503050201020203" pitchFamily="18" charset="-78"/>
              </a:rPr>
              <a:t>رشته ها</a:t>
            </a:r>
          </a:p>
          <a:p>
            <a:pPr algn="ctr"/>
            <a:endParaRPr lang="fa-IR" sz="2800" b="1" dirty="0">
              <a:solidFill>
                <a:schemeClr val="tx1"/>
              </a:solidFill>
              <a:latin typeface="IRANSans" panose="02040503050201020203" pitchFamily="18" charset="-78"/>
              <a:cs typeface="IRANSans" panose="02040503050201020203" pitchFamily="18" charset="-78"/>
            </a:endParaRPr>
          </a:p>
          <a:p>
            <a:pPr algn="ctr"/>
            <a:r>
              <a:rPr lang="en-US" sz="2800" b="1" dirty="0">
                <a:solidFill>
                  <a:schemeClr val="tx1"/>
                </a:solidFill>
                <a:latin typeface="IRANSans" panose="02040503050201020203" pitchFamily="18" charset="-78"/>
                <a:cs typeface="IRANSans" panose="02040503050201020203" pitchFamily="18" charset="-78"/>
              </a:rPr>
              <a:t>‘</a:t>
            </a:r>
            <a:r>
              <a:rPr lang="en-US" sz="2800" b="1" dirty="0" err="1">
                <a:solidFill>
                  <a:schemeClr val="tx1"/>
                </a:solidFill>
                <a:latin typeface="IRANSans" panose="02040503050201020203" pitchFamily="18" charset="-78"/>
                <a:cs typeface="IRANSans" panose="02040503050201020203" pitchFamily="18" charset="-78"/>
              </a:rPr>
              <a:t>salam</a:t>
            </a:r>
            <a:r>
              <a:rPr lang="en-US" sz="2800" b="1" dirty="0">
                <a:solidFill>
                  <a:schemeClr val="tx1"/>
                </a:solidFill>
                <a:latin typeface="IRANSans" panose="02040503050201020203" pitchFamily="18" charset="-78"/>
                <a:cs typeface="IRANSans" panose="02040503050201020203" pitchFamily="18" charset="-78"/>
              </a:rPr>
              <a:t>’</a:t>
            </a:r>
          </a:p>
          <a:p>
            <a:pPr algn="ctr"/>
            <a:r>
              <a:rPr lang="en-US" sz="2800" b="1" dirty="0">
                <a:solidFill>
                  <a:schemeClr val="tx1"/>
                </a:solidFill>
                <a:latin typeface="IRANSans" panose="02040503050201020203" pitchFamily="18" charset="-78"/>
                <a:cs typeface="IRANSans" panose="02040503050201020203" pitchFamily="18" charset="-78"/>
              </a:rPr>
              <a:t>“12”</a:t>
            </a:r>
          </a:p>
          <a:p>
            <a:pPr algn="ctr"/>
            <a:r>
              <a:rPr lang="en-US" sz="2800" b="1" dirty="0">
                <a:solidFill>
                  <a:schemeClr val="tx1"/>
                </a:solidFill>
                <a:latin typeface="IRANSans" panose="02040503050201020203" pitchFamily="18" charset="-78"/>
                <a:cs typeface="IRANSans" panose="02040503050201020203" pitchFamily="18" charset="-78"/>
              </a:rPr>
              <a:t>“Ali43”</a:t>
            </a:r>
          </a:p>
        </p:txBody>
      </p:sp>
      <p:cxnSp>
        <p:nvCxnSpPr>
          <p:cNvPr id="7" name="Straight Arrow Connector 6">
            <a:extLst>
              <a:ext uri="{FF2B5EF4-FFF2-40B4-BE49-F238E27FC236}">
                <a16:creationId xmlns:a16="http://schemas.microsoft.com/office/drawing/2014/main" id="{CB6307C7-DAD8-429D-DC73-5DB63A5E14D5}"/>
              </a:ext>
            </a:extLst>
          </p:cNvPr>
          <p:cNvCxnSpPr>
            <a:stCxn id="2" idx="2"/>
            <a:endCxn id="4" idx="0"/>
          </p:cNvCxnSpPr>
          <p:nvPr/>
        </p:nvCxnSpPr>
        <p:spPr>
          <a:xfrm flipH="1">
            <a:off x="3068570" y="1580050"/>
            <a:ext cx="3022106" cy="88826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2D2E993-5861-2CFE-348F-2A0C4DA4EE93}"/>
              </a:ext>
            </a:extLst>
          </p:cNvPr>
          <p:cNvCxnSpPr>
            <a:stCxn id="2" idx="2"/>
            <a:endCxn id="5" idx="0"/>
          </p:cNvCxnSpPr>
          <p:nvPr/>
        </p:nvCxnSpPr>
        <p:spPr>
          <a:xfrm>
            <a:off x="6090676" y="1580050"/>
            <a:ext cx="3032757" cy="888268"/>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83611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F1A0B2-ADD0-1AB0-630A-E131E0588C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FAAC0-14D4-D403-0C17-7AE288DE0EBA}"/>
              </a:ext>
            </a:extLst>
          </p:cNvPr>
          <p:cNvSpPr>
            <a:spLocks noGrp="1"/>
          </p:cNvSpPr>
          <p:nvPr>
            <p:ph type="title"/>
          </p:nvPr>
        </p:nvSpPr>
        <p:spPr/>
        <p:txBody>
          <a:bodyPr>
            <a:normAutofit/>
          </a:bodyPr>
          <a:lstStyle/>
          <a:p>
            <a:r>
              <a:rPr lang="fa-IR"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1</a:t>
            </a:r>
            <a:endParaRPr lang="en-US"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4DD5D59-18D7-A133-7142-771936B43CC3}"/>
                  </a:ext>
                </a:extLst>
              </p:cNvPr>
              <p:cNvSpPr>
                <a:spLocks noGrp="1"/>
              </p:cNvSpPr>
              <p:nvPr>
                <p:ph idx="1"/>
              </p:nvPr>
            </p:nvSpPr>
            <p:spPr>
              <a:xfrm>
                <a:off x="913795" y="1732449"/>
                <a:ext cx="10353762" cy="4625320"/>
              </a:xfrm>
            </p:spPr>
            <p:txBody>
              <a:bodyPr>
                <a:normAutofit/>
              </a:bodyPr>
              <a:lstStyle/>
              <a:p>
                <a:pPr algn="r" rtl="1">
                  <a:lnSpc>
                    <a:spcPct val="150000"/>
                  </a:lnSpc>
                </a:pPr>
                <a:r>
                  <a:rPr lang="fa-IR" sz="1800" dirty="0">
                    <a:latin typeface="IRANSans" panose="02040503050201020203" pitchFamily="18" charset="-78"/>
                    <a:cs typeface="IRANSans" panose="02040503050201020203" pitchFamily="18" charset="-78"/>
                  </a:rPr>
                  <a:t>ب.ب.ک (برنامه ای بنویسید که) برنامه ای بنویسید که حاصل عبارت زیر را چاپ کند.</a:t>
                </a:r>
              </a:p>
              <a:p>
                <a:pPr marL="36900" indent="0" algn="l">
                  <a:buNone/>
                </a:pPr>
                <a14:m>
                  <m:oMathPara xmlns:m="http://schemas.openxmlformats.org/officeDocument/2006/math">
                    <m:oMathParaPr>
                      <m:jc m:val="center"/>
                    </m:oMathParaPr>
                    <m:oMath xmlns:m="http://schemas.openxmlformats.org/officeDocument/2006/math">
                      <m:f>
                        <m:fPr>
                          <m:ctrlPr>
                            <a:rPr lang="fa-IR" sz="4000" i="1" smtClean="0">
                              <a:latin typeface="Cambria Math" panose="02040503050406030204" pitchFamily="18" charset="0"/>
                              <a:cs typeface="IRANSans" panose="02040503050201020203" pitchFamily="18" charset="-78"/>
                            </a:rPr>
                          </m:ctrlPr>
                        </m:fPr>
                        <m:num>
                          <m:d>
                            <m:dPr>
                              <m:ctrlPr>
                                <a:rPr lang="en-US" sz="4000" b="0" i="1" smtClean="0">
                                  <a:latin typeface="Cambria Math" panose="02040503050406030204" pitchFamily="18" charset="0"/>
                                  <a:cs typeface="IRANSans" panose="02040503050201020203" pitchFamily="18" charset="-78"/>
                                </a:rPr>
                              </m:ctrlPr>
                            </m:dPr>
                            <m:e>
                              <m:r>
                                <a:rPr lang="en-US" sz="4000" b="0" i="1" smtClean="0">
                                  <a:latin typeface="Cambria Math" panose="02040503050406030204" pitchFamily="18" charset="0"/>
                                  <a:cs typeface="IRANSans" panose="02040503050201020203" pitchFamily="18" charset="-78"/>
                                </a:rPr>
                                <m:t>50</m:t>
                              </m:r>
                              <m:r>
                                <a:rPr lang="en-US" sz="4000" b="0" i="1" smtClean="0">
                                  <a:latin typeface="Cambria Math" panose="02040503050406030204" pitchFamily="18" charset="0"/>
                                  <a:cs typeface="IRANSans" panose="02040503050201020203" pitchFamily="18" charset="-78"/>
                                </a:rPr>
                                <m:t> −</m:t>
                              </m:r>
                              <m:r>
                                <a:rPr lang="en-US" sz="4000" b="0" i="1" smtClean="0">
                                  <a:latin typeface="Cambria Math" panose="02040503050406030204" pitchFamily="18" charset="0"/>
                                  <a:cs typeface="IRANSans" panose="02040503050201020203" pitchFamily="18" charset="-78"/>
                                </a:rPr>
                                <m:t>27</m:t>
                              </m:r>
                            </m:e>
                          </m:d>
                        </m:num>
                        <m:den>
                          <m:d>
                            <m:dPr>
                              <m:ctrlPr>
                                <a:rPr lang="en-US" sz="4000" b="0" i="1" smtClean="0">
                                  <a:latin typeface="Cambria Math" panose="02040503050406030204" pitchFamily="18" charset="0"/>
                                  <a:cs typeface="IRANSans" panose="02040503050201020203" pitchFamily="18" charset="-78"/>
                                </a:rPr>
                              </m:ctrlPr>
                            </m:dPr>
                            <m:e>
                              <m:r>
                                <a:rPr lang="en-US" sz="4000" b="0" i="1" smtClean="0">
                                  <a:latin typeface="Cambria Math" panose="02040503050406030204" pitchFamily="18" charset="0"/>
                                  <a:cs typeface="IRANSans" panose="02040503050201020203" pitchFamily="18" charset="-78"/>
                                </a:rPr>
                                <m:t>78</m:t>
                              </m:r>
                              <m:r>
                                <a:rPr lang="en-US" sz="4000" b="0" i="1" smtClean="0">
                                  <a:latin typeface="Cambria Math" panose="02040503050406030204" pitchFamily="18" charset="0"/>
                                  <a:cs typeface="IRANSans" panose="02040503050201020203" pitchFamily="18" charset="-78"/>
                                </a:rPr>
                                <m:t>+</m:t>
                              </m:r>
                              <m:r>
                                <a:rPr lang="en-US" sz="4000" b="0" i="1" smtClean="0">
                                  <a:latin typeface="Cambria Math" panose="02040503050406030204" pitchFamily="18" charset="0"/>
                                  <a:cs typeface="IRANSans" panose="02040503050201020203" pitchFamily="18" charset="-78"/>
                                </a:rPr>
                                <m:t>87</m:t>
                              </m:r>
                            </m:e>
                          </m:d>
                          <m:r>
                            <a:rPr lang="en-US" sz="4000" b="0" i="1" smtClean="0">
                              <a:latin typeface="Cambria Math" panose="02040503050406030204" pitchFamily="18" charset="0"/>
                              <a:cs typeface="IRANSans" panose="02040503050201020203" pitchFamily="18" charset="-78"/>
                            </a:rPr>
                            <m:t>∗</m:t>
                          </m:r>
                          <m:r>
                            <a:rPr lang="en-US" sz="4000" b="0" i="1" smtClean="0">
                              <a:latin typeface="Cambria Math" panose="02040503050406030204" pitchFamily="18" charset="0"/>
                              <a:cs typeface="IRANSans" panose="02040503050201020203" pitchFamily="18" charset="-78"/>
                            </a:rPr>
                            <m:t>3</m:t>
                          </m:r>
                        </m:den>
                      </m:f>
                    </m:oMath>
                  </m:oMathPara>
                </a14:m>
                <a:endParaRPr lang="en-US" sz="1800" dirty="0">
                  <a:latin typeface="IRANSans" panose="02040503050201020203" pitchFamily="18" charset="-78"/>
                  <a:cs typeface="IRANSans" panose="02040503050201020203" pitchFamily="18" charset="-78"/>
                </a:endParaRPr>
              </a:p>
              <a:p>
                <a:pPr algn="r" rtl="1">
                  <a:lnSpc>
                    <a:spcPct val="150000"/>
                  </a:lnSpc>
                </a:pPr>
                <a:r>
                  <a:rPr lang="fa-IR" sz="1800" dirty="0">
                    <a:latin typeface="IRANSans" panose="02040503050201020203" pitchFamily="18" charset="-78"/>
                    <a:cs typeface="IRANSans" panose="02040503050201020203" pitchFamily="18" charset="-78"/>
                  </a:rPr>
                  <a:t>ب.ب.ک (برنامه ای بنویسید که) برنامه ای بنویسید که حاصل عبارت زیر را چاپ کند.</a:t>
                </a:r>
              </a:p>
              <a:p>
                <a:pPr marL="36900" indent="0">
                  <a:buNone/>
                </a:pPr>
                <a14:m>
                  <m:oMathPara xmlns:m="http://schemas.openxmlformats.org/officeDocument/2006/math">
                    <m:oMathParaPr>
                      <m:jc m:val="center"/>
                    </m:oMathParaPr>
                    <m:oMath xmlns:m="http://schemas.openxmlformats.org/officeDocument/2006/math">
                      <m:f>
                        <m:fPr>
                          <m:ctrlPr>
                            <a:rPr lang="fa-IR" sz="4000" i="1">
                              <a:latin typeface="Cambria Math" panose="02040503050406030204" pitchFamily="18" charset="0"/>
                              <a:cs typeface="IRANSans" panose="02040503050201020203" pitchFamily="18" charset="-78"/>
                            </a:rPr>
                          </m:ctrlPr>
                        </m:fPr>
                        <m:num>
                          <m:d>
                            <m:dPr>
                              <m:ctrlPr>
                                <a:rPr lang="en-US" sz="4000" i="1">
                                  <a:latin typeface="Cambria Math" panose="02040503050406030204" pitchFamily="18" charset="0"/>
                                  <a:cs typeface="IRANSans" panose="02040503050201020203" pitchFamily="18" charset="-78"/>
                                </a:rPr>
                              </m:ctrlPr>
                            </m:dPr>
                            <m:e>
                              <m:r>
                                <a:rPr lang="en-US" sz="4000" i="1">
                                  <a:latin typeface="Cambria Math" panose="02040503050406030204" pitchFamily="18" charset="0"/>
                                  <a:cs typeface="IRANSans" panose="02040503050201020203" pitchFamily="18" charset="-78"/>
                                </a:rPr>
                                <m:t>50</m:t>
                              </m:r>
                              <m:r>
                                <a:rPr lang="en-US" sz="4000" i="1">
                                  <a:latin typeface="Cambria Math" panose="02040503050406030204" pitchFamily="18" charset="0"/>
                                  <a:cs typeface="IRANSans" panose="02040503050201020203" pitchFamily="18" charset="-78"/>
                                </a:rPr>
                                <m:t> −</m:t>
                              </m:r>
                              <m:r>
                                <a:rPr lang="en-US" sz="4000" i="1">
                                  <a:latin typeface="Cambria Math" panose="02040503050406030204" pitchFamily="18" charset="0"/>
                                  <a:cs typeface="IRANSans" panose="02040503050201020203" pitchFamily="18" charset="-78"/>
                                </a:rPr>
                                <m:t>27</m:t>
                              </m:r>
                            </m:e>
                          </m:d>
                          <m:r>
                            <a:rPr lang="en-US" sz="4000" i="1">
                              <a:latin typeface="Cambria Math" panose="02040503050406030204" pitchFamily="18" charset="0"/>
                              <a:cs typeface="IRANSans" panose="02040503050201020203" pitchFamily="18" charset="-78"/>
                            </a:rPr>
                            <m:t>∗ </m:t>
                          </m:r>
                          <m:f>
                            <m:fPr>
                              <m:ctrlPr>
                                <a:rPr lang="en-US" sz="4000" i="1">
                                  <a:latin typeface="Cambria Math" panose="02040503050406030204" pitchFamily="18" charset="0"/>
                                  <a:cs typeface="IRANSans" panose="02040503050201020203" pitchFamily="18" charset="-78"/>
                                </a:rPr>
                              </m:ctrlPr>
                            </m:fPr>
                            <m:num>
                              <m:r>
                                <a:rPr lang="en-US" sz="4000" i="1">
                                  <a:latin typeface="Cambria Math" panose="02040503050406030204" pitchFamily="18" charset="0"/>
                                  <a:cs typeface="IRANSans" panose="02040503050201020203" pitchFamily="18" charset="-78"/>
                                </a:rPr>
                                <m:t>123</m:t>
                              </m:r>
                              <m:r>
                                <a:rPr lang="en-US" sz="4000" i="1">
                                  <a:latin typeface="Cambria Math" panose="02040503050406030204" pitchFamily="18" charset="0"/>
                                  <a:cs typeface="IRANSans" panose="02040503050201020203" pitchFamily="18" charset="-78"/>
                                </a:rPr>
                                <m:t>+</m:t>
                              </m:r>
                              <m:r>
                                <a:rPr lang="en-US" sz="4000" i="1">
                                  <a:latin typeface="Cambria Math" panose="02040503050406030204" pitchFamily="18" charset="0"/>
                                  <a:cs typeface="IRANSans" panose="02040503050201020203" pitchFamily="18" charset="-78"/>
                                </a:rPr>
                                <m:t>456</m:t>
                              </m:r>
                            </m:num>
                            <m:den>
                              <m:r>
                                <a:rPr lang="en-US" sz="4000" i="1">
                                  <a:latin typeface="Cambria Math" panose="02040503050406030204" pitchFamily="18" charset="0"/>
                                  <a:cs typeface="IRANSans" panose="02040503050201020203" pitchFamily="18" charset="-78"/>
                                </a:rPr>
                                <m:t>3</m:t>
                              </m:r>
                            </m:den>
                          </m:f>
                        </m:num>
                        <m:den>
                          <m:d>
                            <m:dPr>
                              <m:ctrlPr>
                                <a:rPr lang="en-US" sz="4000" i="1">
                                  <a:latin typeface="Cambria Math" panose="02040503050406030204" pitchFamily="18" charset="0"/>
                                  <a:cs typeface="IRANSans" panose="02040503050201020203" pitchFamily="18" charset="-78"/>
                                </a:rPr>
                              </m:ctrlPr>
                            </m:dPr>
                            <m:e>
                              <m:r>
                                <a:rPr lang="en-US" sz="4000" i="1">
                                  <a:latin typeface="Cambria Math" panose="02040503050406030204" pitchFamily="18" charset="0"/>
                                  <a:cs typeface="IRANSans" panose="02040503050201020203" pitchFamily="18" charset="-78"/>
                                </a:rPr>
                                <m:t>78</m:t>
                              </m:r>
                              <m:r>
                                <a:rPr lang="en-US" sz="4000" i="1">
                                  <a:latin typeface="Cambria Math" panose="02040503050406030204" pitchFamily="18" charset="0"/>
                                  <a:cs typeface="IRANSans" panose="02040503050201020203" pitchFamily="18" charset="-78"/>
                                </a:rPr>
                                <m:t>+</m:t>
                              </m:r>
                              <m:r>
                                <a:rPr lang="en-US" sz="4000" i="1">
                                  <a:latin typeface="Cambria Math" panose="02040503050406030204" pitchFamily="18" charset="0"/>
                                  <a:cs typeface="IRANSans" panose="02040503050201020203" pitchFamily="18" charset="-78"/>
                                </a:rPr>
                                <m:t>12</m:t>
                              </m:r>
                              <m:r>
                                <a:rPr lang="en-US" sz="4000" i="1">
                                  <a:latin typeface="Cambria Math" panose="02040503050406030204" pitchFamily="18" charset="0"/>
                                  <a:cs typeface="IRANSans" panose="02040503050201020203" pitchFamily="18" charset="-78"/>
                                </a:rPr>
                                <m:t>+</m:t>
                              </m:r>
                              <m:r>
                                <a:rPr lang="en-US" sz="4000" i="1">
                                  <a:latin typeface="Cambria Math" panose="02040503050406030204" pitchFamily="18" charset="0"/>
                                  <a:cs typeface="IRANSans" panose="02040503050201020203" pitchFamily="18" charset="-78"/>
                                </a:rPr>
                                <m:t>87</m:t>
                              </m:r>
                            </m:e>
                          </m:d>
                          <m:r>
                            <a:rPr lang="en-US" sz="4000" i="1">
                              <a:latin typeface="Cambria Math" panose="02040503050406030204" pitchFamily="18" charset="0"/>
                              <a:cs typeface="IRANSans" panose="02040503050201020203" pitchFamily="18" charset="-78"/>
                            </a:rPr>
                            <m:t>∗</m:t>
                          </m:r>
                          <m:r>
                            <a:rPr lang="en-US" sz="4000" i="1">
                              <a:latin typeface="Cambria Math" panose="02040503050406030204" pitchFamily="18" charset="0"/>
                              <a:cs typeface="IRANSans" panose="02040503050201020203" pitchFamily="18" charset="-78"/>
                            </a:rPr>
                            <m:t>3</m:t>
                          </m:r>
                        </m:den>
                      </m:f>
                    </m:oMath>
                  </m:oMathPara>
                </a14:m>
                <a:endParaRPr lang="fa-IR" sz="1800" dirty="0">
                  <a:latin typeface="IRANSans" panose="02040503050201020203" pitchFamily="18" charset="-78"/>
                  <a:cs typeface="IRANSans" panose="02040503050201020203" pitchFamily="18" charset="-78"/>
                </a:endParaRPr>
              </a:p>
              <a:p>
                <a:pPr marL="36900" indent="0" algn="r" rtl="1">
                  <a:buNone/>
                </a:pPr>
                <a:r>
                  <a:rPr lang="fa-IR" sz="1800" dirty="0">
                    <a:latin typeface="IRANSans" panose="02040503050201020203" pitchFamily="18" charset="-78"/>
                    <a:cs typeface="IRANSans" panose="02040503050201020203" pitchFamily="18" charset="-78"/>
                  </a:rPr>
                  <a:t>کانال تلگرام </a:t>
                </a:r>
                <a:r>
                  <a:rPr lang="en-US" sz="1800" dirty="0" err="1">
                    <a:latin typeface="IRANSans" panose="02040503050201020203" pitchFamily="18" charset="-78"/>
                    <a:cs typeface="IRANSans" panose="02040503050201020203" pitchFamily="18" charset="-78"/>
                  </a:rPr>
                  <a:t>att_python</a:t>
                </a:r>
                <a:endParaRPr lang="fa-IR" sz="1800" dirty="0">
                  <a:latin typeface="IRANSans" panose="02040503050201020203" pitchFamily="18" charset="-78"/>
                  <a:cs typeface="IRANSans" panose="02040503050201020203" pitchFamily="18" charset="-78"/>
                </a:endParaRPr>
              </a:p>
              <a:p>
                <a:pPr marL="36900" indent="0" algn="l">
                  <a:buNone/>
                </a:pPr>
                <a:endParaRPr lang="fa-IR" sz="1800" dirty="0">
                  <a:latin typeface="IRANSans" panose="02040503050201020203" pitchFamily="18" charset="-78"/>
                  <a:cs typeface="IRANSans" panose="02040503050201020203" pitchFamily="18" charset="-78"/>
                </a:endParaRPr>
              </a:p>
            </p:txBody>
          </p:sp>
        </mc:Choice>
        <mc:Fallback xmlns="">
          <p:sp>
            <p:nvSpPr>
              <p:cNvPr id="3" name="Content Placeholder 2">
                <a:extLst>
                  <a:ext uri="{FF2B5EF4-FFF2-40B4-BE49-F238E27FC236}">
                    <a16:creationId xmlns:a16="http://schemas.microsoft.com/office/drawing/2014/main" id="{E4DD5D59-18D7-A133-7142-771936B43CC3}"/>
                  </a:ext>
                </a:extLst>
              </p:cNvPr>
              <p:cNvSpPr>
                <a:spLocks noGrp="1" noRot="1" noChangeAspect="1" noMove="1" noResize="1" noEditPoints="1" noAdjustHandles="1" noChangeArrowheads="1" noChangeShapeType="1" noTextEdit="1"/>
              </p:cNvSpPr>
              <p:nvPr>
                <p:ph idx="1"/>
              </p:nvPr>
            </p:nvSpPr>
            <p:spPr>
              <a:xfrm>
                <a:off x="913795" y="1732449"/>
                <a:ext cx="10353762" cy="4625320"/>
              </a:xfr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5562039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84DB5-402A-D678-1F2B-892229891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45DBB-4AAD-9BA1-2FB6-0B915DE451B2}"/>
              </a:ext>
            </a:extLst>
          </p:cNvPr>
          <p:cNvSpPr>
            <a:spLocks noGrp="1"/>
          </p:cNvSpPr>
          <p:nvPr>
            <p:ph type="title"/>
          </p:nvPr>
        </p:nvSpPr>
        <p:spPr/>
        <p:txBody>
          <a:bodyPr>
            <a:normAutofit/>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2</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F96CE23-016F-8BE8-72AD-DA82A9C9D659}"/>
                  </a:ext>
                </a:extLst>
              </p:cNvPr>
              <p:cNvSpPr>
                <a:spLocks noGrp="1"/>
              </p:cNvSpPr>
              <p:nvPr>
                <p:ph idx="1"/>
              </p:nvPr>
            </p:nvSpPr>
            <p:spPr/>
            <p:txBody>
              <a:bodyPr>
                <a:normAutofit fontScale="92500"/>
              </a:bodyPr>
              <a:lstStyle/>
              <a:p>
                <a:pPr algn="r" rtl="1">
                  <a:lnSpc>
                    <a:spcPct val="150000"/>
                  </a:lnSpc>
                </a:pPr>
                <a:r>
                  <a:rPr lang="fa-IR" sz="2800" dirty="0">
                    <a:latin typeface="IRANSans" panose="02040503050201020203" pitchFamily="18" charset="-78"/>
                    <a:cs typeface="IRANSans" panose="02040503050201020203" pitchFamily="18" charset="-78"/>
                  </a:rPr>
                  <a:t>ب.ب.ک (برنامه ای بنویسید که) برنامه ای بنویسید که حاصل عبارت زیر را چاپ کند.</a:t>
                </a:r>
              </a:p>
              <a:p>
                <a:pPr marL="36900" indent="0" algn="l">
                  <a:buNone/>
                </a:pPr>
                <a14:m>
                  <m:oMathPara xmlns:m="http://schemas.openxmlformats.org/officeDocument/2006/math">
                    <m:oMathParaPr>
                      <m:jc m:val="center"/>
                    </m:oMathParaPr>
                    <m:oMath xmlns:m="http://schemas.openxmlformats.org/officeDocument/2006/math">
                      <m:f>
                        <m:fPr>
                          <m:ctrlPr>
                            <a:rPr lang="fa-IR" sz="5400" i="1" smtClean="0">
                              <a:latin typeface="Cambria Math" panose="02040503050406030204" pitchFamily="18" charset="0"/>
                              <a:cs typeface="IRANSans" panose="02040503050201020203" pitchFamily="18" charset="-78"/>
                            </a:rPr>
                          </m:ctrlPr>
                        </m:fPr>
                        <m:num>
                          <m:d>
                            <m:dPr>
                              <m:ctrlPr>
                                <a:rPr lang="en-US" sz="5400" b="0" i="1" smtClean="0">
                                  <a:latin typeface="Cambria Math" panose="02040503050406030204" pitchFamily="18" charset="0"/>
                                  <a:cs typeface="IRANSans" panose="02040503050201020203" pitchFamily="18" charset="-78"/>
                                </a:rPr>
                              </m:ctrlPr>
                            </m:dPr>
                            <m:e>
                              <m:r>
                                <a:rPr lang="en-US" sz="5400" b="0" i="1" smtClean="0">
                                  <a:latin typeface="Cambria Math" panose="02040503050406030204" pitchFamily="18" charset="0"/>
                                  <a:cs typeface="IRANSans" panose="02040503050201020203" pitchFamily="18" charset="-78"/>
                                </a:rPr>
                                <m:t>50</m:t>
                              </m:r>
                              <m:r>
                                <a:rPr lang="en-US" sz="5400" b="0" i="1" smtClean="0">
                                  <a:latin typeface="Cambria Math" panose="02040503050406030204" pitchFamily="18" charset="0"/>
                                  <a:cs typeface="IRANSans" panose="02040503050201020203" pitchFamily="18" charset="-78"/>
                                </a:rPr>
                                <m:t> −</m:t>
                              </m:r>
                              <m:r>
                                <a:rPr lang="en-US" sz="5400" b="0" i="1" smtClean="0">
                                  <a:latin typeface="Cambria Math" panose="02040503050406030204" pitchFamily="18" charset="0"/>
                                  <a:cs typeface="IRANSans" panose="02040503050201020203" pitchFamily="18" charset="-78"/>
                                </a:rPr>
                                <m:t>27</m:t>
                              </m:r>
                            </m:e>
                          </m:d>
                          <m:r>
                            <a:rPr lang="en-US" sz="5400" b="0" i="1" smtClean="0">
                              <a:latin typeface="Cambria Math" panose="02040503050406030204" pitchFamily="18" charset="0"/>
                              <a:cs typeface="IRANSans" panose="02040503050201020203" pitchFamily="18" charset="-78"/>
                            </a:rPr>
                            <m:t>∗ </m:t>
                          </m:r>
                          <m:f>
                            <m:fPr>
                              <m:ctrlPr>
                                <a:rPr lang="en-US" sz="5400" b="0" i="1" smtClean="0">
                                  <a:latin typeface="Cambria Math" panose="02040503050406030204" pitchFamily="18" charset="0"/>
                                  <a:cs typeface="IRANSans" panose="02040503050201020203" pitchFamily="18" charset="-78"/>
                                </a:rPr>
                              </m:ctrlPr>
                            </m:fPr>
                            <m:num>
                              <m:r>
                                <a:rPr lang="en-US" sz="5400" b="0" i="1" smtClean="0">
                                  <a:latin typeface="Cambria Math" panose="02040503050406030204" pitchFamily="18" charset="0"/>
                                  <a:cs typeface="IRANSans" panose="02040503050201020203" pitchFamily="18" charset="-78"/>
                                </a:rPr>
                                <m:t>123</m:t>
                              </m:r>
                              <m:r>
                                <a:rPr lang="en-US" sz="5400" b="0" i="1" smtClean="0">
                                  <a:latin typeface="Cambria Math" panose="02040503050406030204" pitchFamily="18" charset="0"/>
                                  <a:cs typeface="IRANSans" panose="02040503050201020203" pitchFamily="18" charset="-78"/>
                                </a:rPr>
                                <m:t>+</m:t>
                              </m:r>
                              <m:r>
                                <a:rPr lang="en-US" sz="5400" b="0" i="1" smtClean="0">
                                  <a:latin typeface="Cambria Math" panose="02040503050406030204" pitchFamily="18" charset="0"/>
                                  <a:cs typeface="IRANSans" panose="02040503050201020203" pitchFamily="18" charset="-78"/>
                                </a:rPr>
                                <m:t>456</m:t>
                              </m:r>
                            </m:num>
                            <m:den>
                              <m:r>
                                <a:rPr lang="en-US" sz="5400" b="0" i="1" smtClean="0">
                                  <a:latin typeface="Cambria Math" panose="02040503050406030204" pitchFamily="18" charset="0"/>
                                  <a:cs typeface="IRANSans" panose="02040503050201020203" pitchFamily="18" charset="-78"/>
                                </a:rPr>
                                <m:t>3</m:t>
                              </m:r>
                            </m:den>
                          </m:f>
                        </m:num>
                        <m:den>
                          <m:d>
                            <m:dPr>
                              <m:ctrlPr>
                                <a:rPr lang="en-US" sz="5400" b="0" i="1" smtClean="0">
                                  <a:latin typeface="Cambria Math" panose="02040503050406030204" pitchFamily="18" charset="0"/>
                                  <a:cs typeface="IRANSans" panose="02040503050201020203" pitchFamily="18" charset="-78"/>
                                </a:rPr>
                              </m:ctrlPr>
                            </m:dPr>
                            <m:e>
                              <m:r>
                                <a:rPr lang="en-US" sz="5400" b="0" i="1" smtClean="0">
                                  <a:latin typeface="Cambria Math" panose="02040503050406030204" pitchFamily="18" charset="0"/>
                                  <a:cs typeface="IRANSans" panose="02040503050201020203" pitchFamily="18" charset="-78"/>
                                </a:rPr>
                                <m:t>78</m:t>
                              </m:r>
                              <m:r>
                                <a:rPr lang="en-US" sz="5400" b="0" i="1" smtClean="0">
                                  <a:latin typeface="Cambria Math" panose="02040503050406030204" pitchFamily="18" charset="0"/>
                                  <a:cs typeface="IRANSans" panose="02040503050201020203" pitchFamily="18" charset="-78"/>
                                </a:rPr>
                                <m:t>+</m:t>
                              </m:r>
                              <m:r>
                                <a:rPr lang="en-US" sz="5400" b="0" i="1" smtClean="0">
                                  <a:latin typeface="Cambria Math" panose="02040503050406030204" pitchFamily="18" charset="0"/>
                                  <a:cs typeface="IRANSans" panose="02040503050201020203" pitchFamily="18" charset="-78"/>
                                </a:rPr>
                                <m:t>12</m:t>
                              </m:r>
                              <m:r>
                                <a:rPr lang="en-US" sz="5400" b="0" i="1" smtClean="0">
                                  <a:latin typeface="Cambria Math" panose="02040503050406030204" pitchFamily="18" charset="0"/>
                                  <a:cs typeface="IRANSans" panose="02040503050201020203" pitchFamily="18" charset="-78"/>
                                </a:rPr>
                                <m:t>+</m:t>
                              </m:r>
                              <m:r>
                                <a:rPr lang="en-US" sz="5400" b="0" i="1" smtClean="0">
                                  <a:latin typeface="Cambria Math" panose="02040503050406030204" pitchFamily="18" charset="0"/>
                                  <a:cs typeface="IRANSans" panose="02040503050201020203" pitchFamily="18" charset="-78"/>
                                </a:rPr>
                                <m:t>87</m:t>
                              </m:r>
                            </m:e>
                          </m:d>
                          <m:r>
                            <a:rPr lang="en-US" sz="5400" b="0" i="1" smtClean="0">
                              <a:latin typeface="Cambria Math" panose="02040503050406030204" pitchFamily="18" charset="0"/>
                              <a:cs typeface="IRANSans" panose="02040503050201020203" pitchFamily="18" charset="-78"/>
                            </a:rPr>
                            <m:t>∗</m:t>
                          </m:r>
                          <m:r>
                            <a:rPr lang="en-US" sz="5400" b="0" i="1" smtClean="0">
                              <a:latin typeface="Cambria Math" panose="02040503050406030204" pitchFamily="18" charset="0"/>
                              <a:cs typeface="IRANSans" panose="02040503050201020203" pitchFamily="18" charset="-78"/>
                            </a:rPr>
                            <m:t>3</m:t>
                          </m:r>
                        </m:den>
                      </m:f>
                    </m:oMath>
                  </m:oMathPara>
                </a14:m>
                <a:endParaRPr lang="fa-IR" sz="2800" dirty="0">
                  <a:latin typeface="IRANSans" panose="02040503050201020203" pitchFamily="18" charset="-78"/>
                  <a:cs typeface="IRANSans" panose="02040503050201020203" pitchFamily="18" charset="-78"/>
                </a:endParaRPr>
              </a:p>
              <a:p>
                <a:pPr marL="36900" indent="0" algn="r" rtl="1">
                  <a:buNone/>
                </a:pPr>
                <a:r>
                  <a:rPr lang="fa-IR" sz="2800" dirty="0">
                    <a:latin typeface="IRANSans" panose="02040503050201020203" pitchFamily="18" charset="-78"/>
                    <a:cs typeface="IRANSans" panose="02040503050201020203" pitchFamily="18" charset="-78"/>
                  </a:rPr>
                  <a:t>کانال تلگرام </a:t>
                </a:r>
                <a:r>
                  <a:rPr lang="en-US" sz="2800" dirty="0" err="1">
                    <a:latin typeface="IRANSans" panose="02040503050201020203" pitchFamily="18" charset="-78"/>
                    <a:cs typeface="IRANSans" panose="02040503050201020203" pitchFamily="18" charset="-78"/>
                  </a:rPr>
                  <a:t>att_python</a:t>
                </a:r>
                <a:endParaRPr lang="fa-IR" sz="2800" dirty="0">
                  <a:latin typeface="IRANSans" panose="02040503050201020203" pitchFamily="18" charset="-78"/>
                  <a:cs typeface="IRANSans" panose="02040503050201020203" pitchFamily="18" charset="-78"/>
                </a:endParaRPr>
              </a:p>
            </p:txBody>
          </p:sp>
        </mc:Choice>
        <mc:Fallback xmlns="">
          <p:sp>
            <p:nvSpPr>
              <p:cNvPr id="3" name="Content Placeholder 2">
                <a:extLst>
                  <a:ext uri="{FF2B5EF4-FFF2-40B4-BE49-F238E27FC236}">
                    <a16:creationId xmlns:a16="http://schemas.microsoft.com/office/drawing/2014/main" id="{DF96CE23-016F-8BE8-72AD-DA82A9C9D659}"/>
                  </a:ext>
                </a:extLst>
              </p:cNvPr>
              <p:cNvSpPr>
                <a:spLocks noGrp="1" noRot="1" noChangeAspect="1" noMove="1" noResize="1" noEditPoints="1" noAdjustHandles="1" noChangeArrowheads="1" noChangeShapeType="1" noTextEdit="1"/>
              </p:cNvSpPr>
              <p:nvPr>
                <p:ph idx="1"/>
              </p:nvPr>
            </p:nvSpPr>
            <p:spPr>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35786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CA77F-6D6B-F945-9BE6-3EC42D24CD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B639EE-0FA8-3F53-E5DE-D0FB0656A9BB}"/>
              </a:ext>
            </a:extLst>
          </p:cNvPr>
          <p:cNvSpPr>
            <a:spLocks noGrp="1"/>
          </p:cNvSpPr>
          <p:nvPr>
            <p:ph type="title"/>
          </p:nvPr>
        </p:nvSpPr>
        <p:spPr/>
        <p:txBody>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عملگر های محاسباتی در رشته ها</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graphicFrame>
        <p:nvGraphicFramePr>
          <p:cNvPr id="4" name="Content Placeholder 9">
            <a:extLst>
              <a:ext uri="{FF2B5EF4-FFF2-40B4-BE49-F238E27FC236}">
                <a16:creationId xmlns:a16="http://schemas.microsoft.com/office/drawing/2014/main" id="{1486B7F3-4AB3-158A-901A-5F2DEEB8219B}"/>
              </a:ext>
            </a:extLst>
          </p:cNvPr>
          <p:cNvGraphicFramePr>
            <a:graphicFrameLocks noGrp="1"/>
          </p:cNvGraphicFramePr>
          <p:nvPr>
            <p:ph idx="1"/>
            <p:extLst>
              <p:ext uri="{D42A27DB-BD31-4B8C-83A1-F6EECF244321}">
                <p14:modId xmlns:p14="http://schemas.microsoft.com/office/powerpoint/2010/main" val="275455234"/>
              </p:ext>
            </p:extLst>
          </p:nvPr>
        </p:nvGraphicFramePr>
        <p:xfrm>
          <a:off x="914400" y="1731963"/>
          <a:ext cx="10353675" cy="4198060"/>
        </p:xfrm>
        <a:graphic>
          <a:graphicData uri="http://schemas.openxmlformats.org/drawingml/2006/table">
            <a:tbl>
              <a:tblPr firstRow="1" bandRow="1">
                <a:tableStyleId>{7E9639D4-E3E2-4D34-9284-5A2195B3D0D7}</a:tableStyleId>
              </a:tblPr>
              <a:tblGrid>
                <a:gridCol w="3451225">
                  <a:extLst>
                    <a:ext uri="{9D8B030D-6E8A-4147-A177-3AD203B41FA5}">
                      <a16:colId xmlns:a16="http://schemas.microsoft.com/office/drawing/2014/main" val="2934540765"/>
                    </a:ext>
                  </a:extLst>
                </a:gridCol>
                <a:gridCol w="3451225">
                  <a:extLst>
                    <a:ext uri="{9D8B030D-6E8A-4147-A177-3AD203B41FA5}">
                      <a16:colId xmlns:a16="http://schemas.microsoft.com/office/drawing/2014/main" val="3309740010"/>
                    </a:ext>
                  </a:extLst>
                </a:gridCol>
                <a:gridCol w="3451225">
                  <a:extLst>
                    <a:ext uri="{9D8B030D-6E8A-4147-A177-3AD203B41FA5}">
                      <a16:colId xmlns:a16="http://schemas.microsoft.com/office/drawing/2014/main" val="1664283581"/>
                    </a:ext>
                  </a:extLst>
                </a:gridCol>
              </a:tblGrid>
              <a:tr h="839612">
                <a:tc>
                  <a:txBody>
                    <a:bodyPr/>
                    <a:lstStyle/>
                    <a:p>
                      <a:pPr algn="ctr" rtl="1"/>
                      <a:r>
                        <a:rPr lang="fa-IR" dirty="0">
                          <a:latin typeface="IRANSans" panose="02040503050201020203" pitchFamily="18" charset="-78"/>
                          <a:cs typeface="IRANSans" panose="02040503050201020203" pitchFamily="18" charset="-78"/>
                        </a:rPr>
                        <a:t>عملگر</a:t>
                      </a:r>
                      <a:endParaRPr lang="en-US" dirty="0">
                        <a:latin typeface="IRANSans" panose="02040503050201020203" pitchFamily="18" charset="-78"/>
                        <a:cs typeface="IRANSans" panose="02040503050201020203" pitchFamily="18" charset="-78"/>
                      </a:endParaRPr>
                    </a:p>
                  </a:txBody>
                  <a:tcPr anchor="ctr"/>
                </a:tc>
                <a:tc>
                  <a:txBody>
                    <a:bodyPr/>
                    <a:lstStyle/>
                    <a:p>
                      <a:pPr algn="ctr" rtl="1"/>
                      <a:r>
                        <a:rPr lang="fa-IR" dirty="0">
                          <a:latin typeface="IRANSans" panose="02040503050201020203" pitchFamily="18" charset="-78"/>
                          <a:cs typeface="IRANSans" panose="02040503050201020203" pitchFamily="18" charset="-78"/>
                        </a:rPr>
                        <a:t>کاربرد</a:t>
                      </a:r>
                      <a:endParaRPr lang="en-US" dirty="0">
                        <a:latin typeface="IRANSans" panose="02040503050201020203" pitchFamily="18" charset="-78"/>
                        <a:cs typeface="IRANSans" panose="02040503050201020203" pitchFamily="18" charset="-78"/>
                      </a:endParaRPr>
                    </a:p>
                  </a:txBody>
                  <a:tcPr anchor="ctr"/>
                </a:tc>
                <a:tc>
                  <a:txBody>
                    <a:bodyPr/>
                    <a:lstStyle/>
                    <a:p>
                      <a:pPr algn="ctr" rtl="1"/>
                      <a:r>
                        <a:rPr lang="fa-IR" dirty="0">
                          <a:latin typeface="IRANSans" panose="02040503050201020203" pitchFamily="18" charset="-78"/>
                          <a:cs typeface="IRANSans" panose="02040503050201020203" pitchFamily="18" charset="-78"/>
                        </a:rPr>
                        <a:t>مثال</a:t>
                      </a:r>
                      <a:endParaRPr lang="en-US" dirty="0">
                        <a:latin typeface="IRANSans" panose="02040503050201020203" pitchFamily="18" charset="-78"/>
                        <a:cs typeface="IRANSans" panose="02040503050201020203" pitchFamily="18" charset="-78"/>
                      </a:endParaRPr>
                    </a:p>
                  </a:txBody>
                  <a:tcPr anchor="ctr"/>
                </a:tc>
                <a:extLst>
                  <a:ext uri="{0D108BD9-81ED-4DB2-BD59-A6C34878D82A}">
                    <a16:rowId xmlns:a16="http://schemas.microsoft.com/office/drawing/2014/main" val="382717388"/>
                  </a:ext>
                </a:extLst>
              </a:tr>
              <a:tr h="839612">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tc>
                <a:tc>
                  <a:txBody>
                    <a:bodyPr/>
                    <a:lstStyle/>
                    <a:p>
                      <a:pPr algn="ctr" rtl="1"/>
                      <a:r>
                        <a:rPr lang="fa-IR" dirty="0">
                          <a:latin typeface="IRANSans" panose="02040503050201020203" pitchFamily="18" charset="-78"/>
                          <a:cs typeface="IRANSans" panose="02040503050201020203" pitchFamily="18" charset="-78"/>
                        </a:rPr>
                        <a:t>جمع دو رشته</a:t>
                      </a:r>
                      <a:endParaRPr lang="en-US" dirty="0">
                        <a:latin typeface="IRANSans" panose="02040503050201020203" pitchFamily="18" charset="-78"/>
                        <a:cs typeface="IRANSans" panose="02040503050201020203" pitchFamily="18" charset="-78"/>
                      </a:endParaRPr>
                    </a:p>
                  </a:txBody>
                  <a:tcPr anchor="ctr"/>
                </a:tc>
                <a:tc>
                  <a:txBody>
                    <a:bodyPr/>
                    <a:lstStyle/>
                    <a:p>
                      <a:pPr algn="ctr" rtl="0"/>
                      <a:r>
                        <a:rPr lang="en-US" dirty="0">
                          <a:latin typeface="IRANSans" panose="02040503050201020203" pitchFamily="18" charset="-78"/>
                          <a:cs typeface="IRANSans" panose="02040503050201020203" pitchFamily="18" charset="-78"/>
                        </a:rPr>
                        <a:t>‘</a:t>
                      </a:r>
                      <a:r>
                        <a:rPr lang="en-US" dirty="0" err="1">
                          <a:latin typeface="IRANSans" panose="02040503050201020203" pitchFamily="18" charset="-78"/>
                          <a:cs typeface="IRANSans" panose="02040503050201020203" pitchFamily="18" charset="-78"/>
                        </a:rPr>
                        <a:t>abc</a:t>
                      </a:r>
                      <a:r>
                        <a:rPr lang="en-US" dirty="0">
                          <a:latin typeface="IRANSans" panose="02040503050201020203" pitchFamily="18" charset="-78"/>
                          <a:cs typeface="IRANSans" panose="02040503050201020203" pitchFamily="18" charset="-78"/>
                        </a:rPr>
                        <a:t>’ + ‘def’ = ‘</a:t>
                      </a:r>
                      <a:r>
                        <a:rPr lang="en-US" dirty="0" err="1">
                          <a:latin typeface="IRANSans" panose="02040503050201020203" pitchFamily="18" charset="-78"/>
                          <a:cs typeface="IRANSans" panose="02040503050201020203" pitchFamily="18" charset="-78"/>
                        </a:rPr>
                        <a:t>abcdef</a:t>
                      </a:r>
                      <a:r>
                        <a:rPr lang="en-US" dirty="0">
                          <a:latin typeface="IRANSans" panose="02040503050201020203" pitchFamily="18" charset="-78"/>
                          <a:cs typeface="IRANSans" panose="02040503050201020203" pitchFamily="18" charset="-78"/>
                        </a:rPr>
                        <a:t>’</a:t>
                      </a:r>
                    </a:p>
                  </a:txBody>
                  <a:tcPr anchor="ctr"/>
                </a:tc>
                <a:extLst>
                  <a:ext uri="{0D108BD9-81ED-4DB2-BD59-A6C34878D82A}">
                    <a16:rowId xmlns:a16="http://schemas.microsoft.com/office/drawing/2014/main" val="3423893147"/>
                  </a:ext>
                </a:extLst>
              </a:tr>
              <a:tr h="839612">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noFill/>
                  </a:tcPr>
                </a:tc>
                <a:tc>
                  <a:txBody>
                    <a:bodyPr/>
                    <a:lstStyle/>
                    <a:p>
                      <a:pPr algn="ctr" rtl="1"/>
                      <a:r>
                        <a:rPr lang="fa-IR" dirty="0">
                          <a:latin typeface="IRANSans" panose="02040503050201020203" pitchFamily="18" charset="-78"/>
                          <a:cs typeface="IRANSans" panose="02040503050201020203" pitchFamily="18" charset="-78"/>
                        </a:rPr>
                        <a:t>ضرب عدد در رشته</a:t>
                      </a:r>
                      <a:endParaRPr lang="en-US" dirty="0">
                        <a:latin typeface="IRANSans" panose="02040503050201020203" pitchFamily="18" charset="-78"/>
                        <a:cs typeface="IRANSans" panose="02040503050201020203" pitchFamily="18" charset="-78"/>
                      </a:endParaRPr>
                    </a:p>
                  </a:txBody>
                  <a:tcPr anchor="ctr">
                    <a:noFill/>
                  </a:tcPr>
                </a:tc>
                <a:tc>
                  <a:txBody>
                    <a:bodyPr/>
                    <a:lstStyle/>
                    <a:p>
                      <a:pPr algn="ctr" rtl="0"/>
                      <a:r>
                        <a:rPr lang="en-US" dirty="0">
                          <a:latin typeface="IRANSans" panose="02040503050201020203" pitchFamily="18" charset="-78"/>
                          <a:cs typeface="IRANSans" panose="02040503050201020203" pitchFamily="18" charset="-78"/>
                        </a:rPr>
                        <a:t>3 * ‘a’ = ‘</a:t>
                      </a:r>
                      <a:r>
                        <a:rPr lang="en-US" dirty="0" err="1">
                          <a:latin typeface="IRANSans" panose="02040503050201020203" pitchFamily="18" charset="-78"/>
                          <a:cs typeface="IRANSans" panose="02040503050201020203" pitchFamily="18" charset="-78"/>
                        </a:rPr>
                        <a:t>aaa</a:t>
                      </a:r>
                      <a:r>
                        <a:rPr lang="en-US" dirty="0">
                          <a:latin typeface="IRANSans" panose="02040503050201020203" pitchFamily="18" charset="-78"/>
                          <a:cs typeface="IRANSans" panose="02040503050201020203" pitchFamily="18" charset="-78"/>
                        </a:rPr>
                        <a:t>’</a:t>
                      </a:r>
                    </a:p>
                  </a:txBody>
                  <a:tcPr anchor="ctr">
                    <a:noFill/>
                  </a:tcPr>
                </a:tc>
                <a:extLst>
                  <a:ext uri="{0D108BD9-81ED-4DB2-BD59-A6C34878D82A}">
                    <a16:rowId xmlns:a16="http://schemas.microsoft.com/office/drawing/2014/main" val="3566728408"/>
                  </a:ext>
                </a:extLst>
              </a:tr>
              <a:tr h="839612">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solidFill>
                      <a:schemeClr val="accent1"/>
                    </a:solidFill>
                  </a:tcPr>
                </a:tc>
                <a:tc>
                  <a:txBody>
                    <a:bodyPr/>
                    <a:lstStyle/>
                    <a:p>
                      <a:pPr algn="ctr" rtl="1"/>
                      <a:r>
                        <a:rPr lang="fa-IR" dirty="0">
                          <a:latin typeface="IRANSans" panose="02040503050201020203" pitchFamily="18" charset="-78"/>
                          <a:cs typeface="IRANSans" panose="02040503050201020203" pitchFamily="18" charset="-78"/>
                        </a:rPr>
                        <a:t>تفریق</a:t>
                      </a:r>
                      <a:endParaRPr lang="en-US" dirty="0">
                        <a:latin typeface="IRANSans" panose="02040503050201020203" pitchFamily="18" charset="-78"/>
                        <a:cs typeface="IRANSans" panose="02040503050201020203" pitchFamily="18" charset="-78"/>
                      </a:endParaRPr>
                    </a:p>
                  </a:txBody>
                  <a:tcPr anchor="ctr">
                    <a:solidFill>
                      <a:schemeClr val="accent1"/>
                    </a:solidFill>
                  </a:tcPr>
                </a:tc>
                <a:tc>
                  <a:txBody>
                    <a:bodyPr/>
                    <a:lstStyle/>
                    <a:p>
                      <a:endParaRPr lang="en-US" dirty="0"/>
                    </a:p>
                  </a:txBody>
                  <a:tcPr anchor="ctr">
                    <a:solidFill>
                      <a:schemeClr val="accent1"/>
                    </a:solidFill>
                  </a:tcPr>
                </a:tc>
                <a:extLst>
                  <a:ext uri="{0D108BD9-81ED-4DB2-BD59-A6C34878D82A}">
                    <a16:rowId xmlns:a16="http://schemas.microsoft.com/office/drawing/2014/main" val="3418300197"/>
                  </a:ext>
                </a:extLst>
              </a:tr>
              <a:tr h="839612">
                <a:tc>
                  <a:txBody>
                    <a:bodyPr/>
                    <a:lstStyle/>
                    <a:p>
                      <a:pPr algn="ctr" rtl="1"/>
                      <a:r>
                        <a:rPr lang="fa-IR" sz="2800" dirty="0">
                          <a:latin typeface="IRANSans" panose="02040503050201020203" pitchFamily="18" charset="-78"/>
                          <a:cs typeface="IRANSans" panose="02040503050201020203" pitchFamily="18" charset="-78"/>
                        </a:rPr>
                        <a:t>/</a:t>
                      </a:r>
                      <a:endParaRPr lang="en-US" sz="2800" dirty="0">
                        <a:latin typeface="IRANSans" panose="02040503050201020203" pitchFamily="18" charset="-78"/>
                        <a:cs typeface="IRANSans" panose="02040503050201020203" pitchFamily="18" charset="-78"/>
                      </a:endParaRPr>
                    </a:p>
                  </a:txBody>
                  <a:tcPr anchor="b">
                    <a:solidFill>
                      <a:schemeClr val="accent1"/>
                    </a:solidFill>
                  </a:tcPr>
                </a:tc>
                <a:tc>
                  <a:txBody>
                    <a:bodyPr/>
                    <a:lstStyle/>
                    <a:p>
                      <a:pPr algn="ctr" rtl="1"/>
                      <a:r>
                        <a:rPr lang="fa-IR" dirty="0">
                          <a:latin typeface="IRANSans" panose="02040503050201020203" pitchFamily="18" charset="-78"/>
                          <a:cs typeface="IRANSans" panose="02040503050201020203" pitchFamily="18" charset="-78"/>
                        </a:rPr>
                        <a:t>تقسیم</a:t>
                      </a:r>
                      <a:endParaRPr lang="en-US" dirty="0">
                        <a:latin typeface="IRANSans" panose="02040503050201020203" pitchFamily="18" charset="-78"/>
                        <a:cs typeface="IRANSans" panose="02040503050201020203" pitchFamily="18" charset="-78"/>
                      </a:endParaRPr>
                    </a:p>
                  </a:txBody>
                  <a:tcPr anchor="ctr">
                    <a:solidFill>
                      <a:schemeClr val="accent1"/>
                    </a:solidFill>
                  </a:tcPr>
                </a:tc>
                <a:tc>
                  <a:txBody>
                    <a:bodyPr/>
                    <a:lstStyle/>
                    <a:p>
                      <a:pPr algn="ctr" rtl="0"/>
                      <a:endParaRPr lang="en-US" dirty="0">
                        <a:latin typeface="IRANSans" panose="02040503050201020203" pitchFamily="18" charset="-78"/>
                        <a:cs typeface="IRANSans" panose="02040503050201020203" pitchFamily="18" charset="-78"/>
                      </a:endParaRPr>
                    </a:p>
                  </a:txBody>
                  <a:tcPr anchor="ctr">
                    <a:solidFill>
                      <a:schemeClr val="accent1"/>
                    </a:solidFill>
                  </a:tcPr>
                </a:tc>
                <a:extLst>
                  <a:ext uri="{0D108BD9-81ED-4DB2-BD59-A6C34878D82A}">
                    <a16:rowId xmlns:a16="http://schemas.microsoft.com/office/drawing/2014/main" val="1018370932"/>
                  </a:ext>
                </a:extLst>
              </a:tr>
            </a:tbl>
          </a:graphicData>
        </a:graphic>
      </p:graphicFrame>
    </p:spTree>
    <p:extLst>
      <p:ext uri="{BB962C8B-B14F-4D97-AF65-F5344CB8AC3E}">
        <p14:creationId xmlns:p14="http://schemas.microsoft.com/office/powerpoint/2010/main" val="14187033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D17466-57F3-1D9F-FA1D-BC281C6762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A938E6-415B-10C3-AEDB-4D1C281C5924}"/>
              </a:ext>
            </a:extLst>
          </p:cNvPr>
          <p:cNvSpPr>
            <a:spLocks noGrp="1"/>
          </p:cNvSpPr>
          <p:nvPr>
            <p:ph type="title"/>
          </p:nvPr>
        </p:nvSpPr>
        <p:spPr/>
        <p:txBody>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مثال</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pic>
        <p:nvPicPr>
          <p:cNvPr id="9" name="Content Placeholder 8">
            <a:extLst>
              <a:ext uri="{FF2B5EF4-FFF2-40B4-BE49-F238E27FC236}">
                <a16:creationId xmlns:a16="http://schemas.microsoft.com/office/drawing/2014/main" id="{966EFDC7-B45C-BD1D-522D-12DF09A4ED21}"/>
              </a:ext>
            </a:extLst>
          </p:cNvPr>
          <p:cNvPicPr>
            <a:picLocks noGrp="1" noChangeAspect="1"/>
          </p:cNvPicPr>
          <p:nvPr>
            <p:ph idx="1"/>
          </p:nvPr>
        </p:nvPicPr>
        <p:blipFill>
          <a:blip r:embed="rId2"/>
          <a:stretch>
            <a:fillRect/>
          </a:stretch>
        </p:blipFill>
        <p:spPr>
          <a:xfrm>
            <a:off x="2252176" y="1731963"/>
            <a:ext cx="7678122" cy="4059237"/>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3112762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D63F5-2776-1506-6FF4-842D81B11A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F06C7A-43C5-D98B-E0EB-F269B4E3B8AA}"/>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کار با کتابخانه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turtle</a:t>
            </a:r>
          </a:p>
        </p:txBody>
      </p:sp>
      <p:sp>
        <p:nvSpPr>
          <p:cNvPr id="3" name="Content Placeholder 2">
            <a:extLst>
              <a:ext uri="{FF2B5EF4-FFF2-40B4-BE49-F238E27FC236}">
                <a16:creationId xmlns:a16="http://schemas.microsoft.com/office/drawing/2014/main" id="{52DA8046-59BB-3811-9CE7-B7D193DDE176}"/>
              </a:ext>
            </a:extLst>
          </p:cNvPr>
          <p:cNvSpPr>
            <a:spLocks noGrp="1"/>
          </p:cNvSpPr>
          <p:nvPr>
            <p:ph idx="1"/>
          </p:nvPr>
        </p:nvSpPr>
        <p:spPr/>
        <p:txBody>
          <a:bodyPr>
            <a:normAutofit/>
          </a:bodyPr>
          <a:lstStyle/>
          <a:p>
            <a:pPr marL="36900" indent="0">
              <a:lnSpc>
                <a:spcPct val="150000"/>
              </a:lnSpc>
              <a:buNone/>
            </a:pPr>
            <a:r>
              <a:rPr lang="en-US" sz="2800" b="1" dirty="0">
                <a:solidFill>
                  <a:schemeClr val="accent1"/>
                </a:solidFill>
                <a:latin typeface="Tahoma" panose="020B0604030504040204" pitchFamily="34" charset="0"/>
                <a:ea typeface="Tahoma" panose="020B0604030504040204" pitchFamily="34" charset="0"/>
                <a:cs typeface="Tahoma" panose="020B0604030504040204" pitchFamily="34" charset="0"/>
              </a:rPr>
              <a:t>import</a:t>
            </a:r>
            <a:r>
              <a:rPr lang="en-US" sz="2800" b="1" dirty="0">
                <a:latin typeface="Tahoma" panose="020B0604030504040204" pitchFamily="34" charset="0"/>
                <a:ea typeface="Tahoma" panose="020B0604030504040204" pitchFamily="34" charset="0"/>
                <a:cs typeface="Tahoma" panose="020B0604030504040204" pitchFamily="34" charset="0"/>
              </a:rPr>
              <a:t> turtle</a:t>
            </a:r>
          </a:p>
          <a:p>
            <a:pPr marL="36900" indent="0">
              <a:lnSpc>
                <a:spcPct val="150000"/>
              </a:lnSpc>
              <a:buNone/>
            </a:pPr>
            <a:r>
              <a:rPr lang="en-US" sz="2800" b="1" dirty="0">
                <a:latin typeface="Tahoma" panose="020B0604030504040204" pitchFamily="34" charset="0"/>
                <a:ea typeface="Tahoma" panose="020B0604030504040204" pitchFamily="34" charset="0"/>
                <a:cs typeface="Tahoma" panose="020B0604030504040204" pitchFamily="34" charset="0"/>
              </a:rPr>
              <a:t>t = </a:t>
            </a:r>
            <a:r>
              <a:rPr lang="en-US" sz="2800" b="1" dirty="0" err="1">
                <a:latin typeface="Tahoma" panose="020B0604030504040204" pitchFamily="34" charset="0"/>
                <a:ea typeface="Tahoma" panose="020B0604030504040204" pitchFamily="34" charset="0"/>
                <a:cs typeface="Tahoma" panose="020B0604030504040204" pitchFamily="34" charset="0"/>
              </a:rPr>
              <a:t>turtle.Turtle</a:t>
            </a:r>
            <a:r>
              <a:rPr lang="en-US" sz="2800" b="1" dirty="0">
                <a:latin typeface="Tahoma" panose="020B0604030504040204" pitchFamily="34" charset="0"/>
                <a:ea typeface="Tahoma" panose="020B0604030504040204" pitchFamily="34" charset="0"/>
                <a:cs typeface="Tahoma" panose="020B0604030504040204" pitchFamily="34" charset="0"/>
              </a:rPr>
              <a:t>()</a:t>
            </a:r>
          </a:p>
          <a:p>
            <a:pPr marL="36900" indent="0">
              <a:lnSpc>
                <a:spcPct val="150000"/>
              </a:lnSpc>
              <a:buNone/>
            </a:pPr>
            <a:r>
              <a:rPr lang="en-US" sz="2800" b="1" dirty="0" err="1">
                <a:latin typeface="Tahoma" panose="020B0604030504040204" pitchFamily="34" charset="0"/>
                <a:ea typeface="Tahoma" panose="020B0604030504040204" pitchFamily="34" charset="0"/>
                <a:cs typeface="Tahoma" panose="020B0604030504040204" pitchFamily="34" charset="0"/>
              </a:rPr>
              <a:t>t.fd</a:t>
            </a:r>
            <a:r>
              <a:rPr lang="en-US" sz="2800" b="1" dirty="0">
                <a:latin typeface="Tahoma" panose="020B0604030504040204" pitchFamily="34" charset="0"/>
                <a:ea typeface="Tahoma" panose="020B0604030504040204" pitchFamily="34" charset="0"/>
                <a:cs typeface="Tahoma" panose="020B0604030504040204" pitchFamily="34" charset="0"/>
              </a:rPr>
              <a:t>(100)</a:t>
            </a:r>
          </a:p>
          <a:p>
            <a:pPr marL="36900" indent="0">
              <a:lnSpc>
                <a:spcPct val="150000"/>
              </a:lnSpc>
              <a:buNone/>
            </a:pPr>
            <a:r>
              <a:rPr lang="en-US" sz="2800" b="1" dirty="0" err="1">
                <a:latin typeface="Tahoma" panose="020B0604030504040204" pitchFamily="34" charset="0"/>
                <a:ea typeface="Tahoma" panose="020B0604030504040204" pitchFamily="34" charset="0"/>
                <a:cs typeface="Tahoma" panose="020B0604030504040204" pitchFamily="34" charset="0"/>
              </a:rPr>
              <a:t>t.left</a:t>
            </a:r>
            <a:r>
              <a:rPr lang="en-US" sz="2800" b="1" dirty="0">
                <a:latin typeface="Tahoma" panose="020B0604030504040204" pitchFamily="34" charset="0"/>
                <a:ea typeface="Tahoma" panose="020B0604030504040204" pitchFamily="34" charset="0"/>
                <a:cs typeface="Tahoma" panose="020B0604030504040204" pitchFamily="34" charset="0"/>
              </a:rPr>
              <a:t>(90)</a:t>
            </a:r>
            <a:endParaRPr lang="fa-IR" sz="2800" b="1" dirty="0">
              <a:latin typeface="Tahoma" panose="020B0604030504040204" pitchFamily="34" charset="0"/>
              <a:ea typeface="Tahoma" panose="020B0604030504040204" pitchFamily="34" charset="0"/>
              <a:cs typeface="Tahoma" panose="020B0604030504040204" pitchFamily="34" charset="0"/>
            </a:endParaRPr>
          </a:p>
        </p:txBody>
      </p:sp>
      <p:pic>
        <p:nvPicPr>
          <p:cNvPr id="5" name="Picture 4">
            <a:extLst>
              <a:ext uri="{FF2B5EF4-FFF2-40B4-BE49-F238E27FC236}">
                <a16:creationId xmlns:a16="http://schemas.microsoft.com/office/drawing/2014/main" id="{9D51E416-4330-A936-71EC-1C5BE9943CC1}"/>
              </a:ext>
            </a:extLst>
          </p:cNvPr>
          <p:cNvPicPr>
            <a:picLocks noChangeAspect="1"/>
          </p:cNvPicPr>
          <p:nvPr/>
        </p:nvPicPr>
        <p:blipFill>
          <a:blip r:embed="rId2"/>
          <a:stretch>
            <a:fillRect/>
          </a:stretch>
        </p:blipFill>
        <p:spPr>
          <a:xfrm>
            <a:off x="6960718" y="1732449"/>
            <a:ext cx="4306839" cy="4482433"/>
          </a:xfrm>
          <a:prstGeom prst="rect">
            <a:avLst/>
          </a:prstGeom>
        </p:spPr>
      </p:pic>
    </p:spTree>
    <p:extLst>
      <p:ext uri="{BB962C8B-B14F-4D97-AF65-F5344CB8AC3E}">
        <p14:creationId xmlns:p14="http://schemas.microsoft.com/office/powerpoint/2010/main" val="18012778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92994-0C17-F588-A1EF-B0BD8A9B2C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49390-9940-1605-45C1-E66EDF9155F1}"/>
              </a:ext>
            </a:extLst>
          </p:cNvPr>
          <p:cNvSpPr>
            <a:spLocks noGrp="1"/>
          </p:cNvSpPr>
          <p:nvPr>
            <p:ph type="title"/>
          </p:nvPr>
        </p:nvSpPr>
        <p:spPr>
          <a:xfrm>
            <a:off x="913795" y="609600"/>
            <a:ext cx="10353762" cy="540412"/>
          </a:xfrm>
        </p:spPr>
        <p:txBody>
          <a:bodyPr>
            <a:normAutofit fontScale="90000"/>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3</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7692FE13-87DD-3FCC-E601-1BD2368B0BEA}"/>
              </a:ext>
            </a:extLst>
          </p:cNvPr>
          <p:cNvSpPr>
            <a:spLocks noGrp="1"/>
          </p:cNvSpPr>
          <p:nvPr>
            <p:ph idx="1"/>
          </p:nvPr>
        </p:nvSpPr>
        <p:spPr>
          <a:xfrm>
            <a:off x="913795" y="1245379"/>
            <a:ext cx="10353762" cy="4545821"/>
          </a:xfrm>
        </p:spPr>
        <p:txBody>
          <a:bodyPr>
            <a:noAutofit/>
          </a:bodyPr>
          <a:lstStyle/>
          <a:p>
            <a:pPr algn="just" rtl="1">
              <a:lnSpc>
                <a:spcPct val="150000"/>
              </a:lnSpc>
            </a:pPr>
            <a:r>
              <a:rPr lang="fa-IR" sz="2400" b="1" dirty="0">
                <a:effectLst/>
                <a:latin typeface="IRANSans" panose="02040503050201020203" pitchFamily="18" charset="-78"/>
                <a:cs typeface="IRANSans" panose="02040503050201020203" pitchFamily="18" charset="-78"/>
              </a:rPr>
              <a:t>سوال 1:</a:t>
            </a:r>
            <a:r>
              <a:rPr lang="fa-IR" sz="2400" dirty="0">
                <a:effectLst/>
                <a:latin typeface="IRANSans" panose="02040503050201020203" pitchFamily="18" charset="-78"/>
                <a:cs typeface="IRANSans" panose="02040503050201020203" pitchFamily="18" charset="-78"/>
              </a:rPr>
              <a:t> </a:t>
            </a:r>
            <a:r>
              <a:rPr lang="ar-SA" sz="2400" dirty="0">
                <a:effectLst/>
                <a:latin typeface="IRANSans" panose="02040503050201020203" pitchFamily="18" charset="-78"/>
                <a:cs typeface="IRANSans" panose="02040503050201020203" pitchFamily="18" charset="-78"/>
              </a:rPr>
              <a:t>مهدی که از کدزدن خسته شده‌است، به تازگی به رشته‌ی صنایع علاقه پیدا کرده است. به همین دلیل تصمیم گرفته است تا در مورد این رشته تحقیق کند. او به افراد مختلفی مراجعه می‌کند و هرکدام یک مقداری اطلاعات به او می‌دهند. او به اندازه‌ی مقدار اطلاعاتی که از اشخاص می‌گیرد متعجب می‌شود. مثلا اگر یک عدد اطلاعات بگیرد می‌گوید </a:t>
            </a:r>
            <a:r>
              <a:rPr lang="en-US" sz="2400" dirty="0">
                <a:effectLst/>
                <a:latin typeface="IRANSans" panose="02040503050201020203" pitchFamily="18" charset="-78"/>
                <a:cs typeface="IRANSans" panose="02040503050201020203" pitchFamily="18" charset="-78"/>
              </a:rPr>
              <a:t>Wow!</a:t>
            </a:r>
            <a:r>
              <a:rPr lang="ar-SA" sz="2400" dirty="0">
                <a:effectLst/>
                <a:latin typeface="IRANSans" panose="02040503050201020203" pitchFamily="18" charset="-78"/>
                <a:cs typeface="IRANSans" panose="02040503050201020203" pitchFamily="18" charset="-78"/>
              </a:rPr>
              <a:t>، اگر دوتا اطلاعات بگیرد می‌گوید</a:t>
            </a:r>
            <a:r>
              <a:rPr lang="en-US" sz="2400" dirty="0" err="1">
                <a:effectLst/>
                <a:latin typeface="IRANSans" panose="02040503050201020203" pitchFamily="18" charset="-78"/>
                <a:cs typeface="IRANSans" panose="02040503050201020203" pitchFamily="18" charset="-78"/>
              </a:rPr>
              <a:t>Woow</a:t>
            </a:r>
            <a:r>
              <a:rPr lang="en-US" sz="2400" dirty="0">
                <a:effectLst/>
                <a:latin typeface="IRANSans" panose="02040503050201020203" pitchFamily="18" charset="-78"/>
                <a:cs typeface="IRANSans" panose="02040503050201020203" pitchFamily="18" charset="-78"/>
              </a:rPr>
              <a:t>!  </a:t>
            </a:r>
            <a:r>
              <a:rPr lang="fa-IR" sz="2400" dirty="0">
                <a:effectLst/>
                <a:latin typeface="IRANSans" panose="02040503050201020203" pitchFamily="18" charset="-78"/>
                <a:cs typeface="IRANSans" panose="02040503050201020203" pitchFamily="18" charset="-78"/>
              </a:rPr>
              <a:t> </a:t>
            </a:r>
            <a:r>
              <a:rPr lang="ar-SA" sz="2400" dirty="0">
                <a:effectLst/>
                <a:latin typeface="IRANSans" panose="02040503050201020203" pitchFamily="18" charset="-78"/>
                <a:cs typeface="IRANSans" panose="02040503050201020203" pitchFamily="18" charset="-78"/>
              </a:rPr>
              <a:t>و به همین شکل مقدار کشیدن کلمه(تعداد </a:t>
            </a:r>
            <a:r>
              <a:rPr lang="en-US" sz="2400" dirty="0">
                <a:effectLst/>
                <a:latin typeface="IRANSans" panose="02040503050201020203" pitchFamily="18" charset="-78"/>
                <a:cs typeface="IRANSans" panose="02040503050201020203" pitchFamily="18" charset="-78"/>
              </a:rPr>
              <a:t>o </a:t>
            </a:r>
            <a:r>
              <a:rPr lang="ar-SA" sz="2400" dirty="0">
                <a:effectLst/>
                <a:latin typeface="IRANSans" panose="02040503050201020203" pitchFamily="18" charset="-78"/>
                <a:cs typeface="IRANSans" panose="02040503050201020203" pitchFamily="18" charset="-78"/>
              </a:rPr>
              <a:t>ها) زیاد می‌شود. حالا شما باید بگویید که اگر یک نفر به اندازه‌ی </a:t>
            </a:r>
            <a:r>
              <a:rPr lang="en-US" sz="2400" dirty="0">
                <a:effectLst/>
                <a:latin typeface="IRANSans" panose="02040503050201020203" pitchFamily="18" charset="-78"/>
                <a:cs typeface="IRANSans" panose="02040503050201020203" pitchFamily="18" charset="-78"/>
              </a:rPr>
              <a:t>n </a:t>
            </a:r>
            <a:r>
              <a:rPr lang="ar-SA" sz="2400" dirty="0">
                <a:effectLst/>
                <a:latin typeface="IRANSans" panose="02040503050201020203" pitchFamily="18" charset="-78"/>
                <a:cs typeface="IRANSans" panose="02040503050201020203" pitchFamily="18" charset="-78"/>
              </a:rPr>
              <a:t>به مهدی اطلاعات بدهد، ما باید انتظار چه کلمه‌ای را از او داشته باشیم</a:t>
            </a:r>
            <a:r>
              <a:rPr lang="en-US" sz="2400" dirty="0">
                <a:effectLst/>
                <a:latin typeface="IRANSans" panose="02040503050201020203" pitchFamily="18" charset="-78"/>
                <a:cs typeface="IRANSans" panose="02040503050201020203" pitchFamily="18" charset="-78"/>
              </a:rPr>
              <a:t>.</a:t>
            </a:r>
          </a:p>
        </p:txBody>
      </p:sp>
    </p:spTree>
    <p:extLst>
      <p:ext uri="{BB962C8B-B14F-4D97-AF65-F5344CB8AC3E}">
        <p14:creationId xmlns:p14="http://schemas.microsoft.com/office/powerpoint/2010/main" val="1800771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E106C-2BC4-881C-3728-77E31FE73FD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13A111-A203-F0FA-C0E0-AC9B4D65AEC6}"/>
              </a:ext>
            </a:extLst>
          </p:cNvPr>
          <p:cNvSpPr txBox="1"/>
          <p:nvPr/>
        </p:nvSpPr>
        <p:spPr>
          <a:xfrm>
            <a:off x="1152544" y="148431"/>
            <a:ext cx="9777909" cy="6278642"/>
          </a:xfrm>
          <a:prstGeom prst="rect">
            <a:avLst/>
          </a:prstGeom>
          <a:noFill/>
        </p:spPr>
        <p:txBody>
          <a:bodyPr wrap="square" rtlCol="0">
            <a:spAutoFit/>
          </a:bodyPr>
          <a:lstStyle/>
          <a:p>
            <a:pPr algn="ctr">
              <a:lnSpc>
                <a:spcPct val="150000"/>
              </a:lnSpc>
            </a:pPr>
            <a:r>
              <a:rPr lang="fa-IR" sz="4800" b="1" dirty="0">
                <a:solidFill>
                  <a:srgbClr val="92D050"/>
                </a:solidFill>
                <a:latin typeface="IRANSans" panose="02040503050201020203" pitchFamily="18" charset="-78"/>
                <a:ea typeface="Tahoma" panose="020B0604030504040204" pitchFamily="34" charset="0"/>
                <a:cs typeface="IRANSans" panose="02040503050201020203" pitchFamily="18" charset="-78"/>
              </a:rPr>
              <a:t>تکلیف:</a:t>
            </a:r>
          </a:p>
          <a:p>
            <a:pPr algn="ctr" rtl="1">
              <a:lnSpc>
                <a:spcPct val="150000"/>
              </a:lnSpc>
            </a:pPr>
            <a:r>
              <a:rPr lang="fa-IR" sz="4400" b="1" dirty="0">
                <a:latin typeface="IRANSans" panose="02040503050201020203" pitchFamily="18" charset="-78"/>
                <a:ea typeface="Tahoma" panose="020B0604030504040204" pitchFamily="34" charset="0"/>
                <a:cs typeface="IRANSans" panose="02040503050201020203" pitchFamily="18" charset="-78"/>
              </a:rPr>
              <a:t>یک شش ضلعی منتظم در </a:t>
            </a:r>
            <a:r>
              <a:rPr lang="en-US" sz="4400" b="1" dirty="0">
                <a:latin typeface="IRANSans" panose="02040503050201020203" pitchFamily="18" charset="-78"/>
                <a:ea typeface="Tahoma" panose="020B0604030504040204" pitchFamily="34" charset="0"/>
                <a:cs typeface="IRANSans" panose="02040503050201020203" pitchFamily="18" charset="-78"/>
              </a:rPr>
              <a:t>turtle </a:t>
            </a:r>
            <a:r>
              <a:rPr lang="fa-IR" sz="4400" b="1" dirty="0">
                <a:latin typeface="IRANSans" panose="02040503050201020203" pitchFamily="18" charset="-78"/>
                <a:ea typeface="Tahoma" panose="020B0604030504040204" pitchFamily="34" charset="0"/>
                <a:cs typeface="IRANSans" panose="02040503050201020203" pitchFamily="18" charset="-78"/>
              </a:rPr>
              <a:t> بسازید</a:t>
            </a:r>
            <a:r>
              <a:rPr lang="en-US" sz="4400" b="1" dirty="0">
                <a:latin typeface="IRANSans" panose="02040503050201020203" pitchFamily="18" charset="-78"/>
                <a:ea typeface="Tahoma" panose="020B0604030504040204" pitchFamily="34" charset="0"/>
                <a:cs typeface="IRANSans" panose="02040503050201020203" pitchFamily="18" charset="-78"/>
              </a:rPr>
              <a:t>.</a:t>
            </a:r>
          </a:p>
          <a:p>
            <a:pPr algn="ctr" rtl="1">
              <a:lnSpc>
                <a:spcPct val="150000"/>
              </a:lnSpc>
            </a:pPr>
            <a:endParaRPr lang="en-US" sz="4400" b="1" dirty="0">
              <a:latin typeface="IRANSans" panose="02040503050201020203" pitchFamily="18" charset="-78"/>
              <a:ea typeface="Tahoma" panose="020B0604030504040204" pitchFamily="34" charset="0"/>
              <a:cs typeface="IRANSans" panose="02040503050201020203" pitchFamily="18" charset="-78"/>
            </a:endParaRPr>
          </a:p>
          <a:p>
            <a:pPr algn="ctr" rtl="1">
              <a:lnSpc>
                <a:spcPct val="150000"/>
              </a:lnSpc>
            </a:pPr>
            <a:endParaRPr lang="en-US" sz="4400" b="1" dirty="0">
              <a:latin typeface="IRANSans" panose="02040503050201020203" pitchFamily="18" charset="-78"/>
              <a:ea typeface="Tahoma" panose="020B0604030504040204" pitchFamily="34" charset="0"/>
              <a:cs typeface="IRANSans" panose="02040503050201020203" pitchFamily="18" charset="-78"/>
            </a:endParaRPr>
          </a:p>
          <a:p>
            <a:pPr algn="ctr" rtl="1">
              <a:lnSpc>
                <a:spcPct val="150000"/>
              </a:lnSpc>
            </a:pPr>
            <a:r>
              <a:rPr lang="en-US" sz="4400" b="1" dirty="0">
                <a:latin typeface="IRANSans" panose="02040503050201020203" pitchFamily="18" charset="-78"/>
                <a:ea typeface="Tahoma" panose="020B0604030504040204" pitchFamily="34" charset="0"/>
                <a:cs typeface="IRANSans" panose="02040503050201020203" pitchFamily="18" charset="-78"/>
              </a:rPr>
              <a:t>http://45.90.72.56:3007</a:t>
            </a:r>
            <a:endParaRPr lang="fa-IR" sz="4400" b="1" dirty="0">
              <a:latin typeface="IRANSans" panose="02040503050201020203" pitchFamily="18" charset="-78"/>
              <a:ea typeface="Tahoma" panose="020B0604030504040204" pitchFamily="34" charset="0"/>
              <a:cs typeface="IRANSans" panose="02040503050201020203" pitchFamily="18" charset="-78"/>
            </a:endParaRPr>
          </a:p>
          <a:p>
            <a:pPr algn="l">
              <a:lnSpc>
                <a:spcPct val="150000"/>
              </a:lnSpc>
            </a:pPr>
            <a:r>
              <a:rPr lang="en-US" sz="4800" b="1" dirty="0">
                <a:solidFill>
                  <a:srgbClr val="00B0F0"/>
                </a:solidFill>
                <a:latin typeface="IRANSans" panose="02040503050201020203" pitchFamily="18" charset="-78"/>
                <a:ea typeface="Tahoma" panose="020B0604030504040204" pitchFamily="34" charset="0"/>
                <a:cs typeface="IRANSans" panose="02040503050201020203" pitchFamily="18" charset="-78"/>
              </a:rPr>
              <a:t>@att_python</a:t>
            </a:r>
          </a:p>
        </p:txBody>
      </p:sp>
      <p:pic>
        <p:nvPicPr>
          <p:cNvPr id="4" name="Picture 3">
            <a:extLst>
              <a:ext uri="{FF2B5EF4-FFF2-40B4-BE49-F238E27FC236}">
                <a16:creationId xmlns:a16="http://schemas.microsoft.com/office/drawing/2014/main" id="{F8D816B4-8E65-DAB9-CC7A-DCF96CC64573}"/>
              </a:ext>
            </a:extLst>
          </p:cNvPr>
          <p:cNvPicPr>
            <a:picLocks noChangeAspect="1"/>
          </p:cNvPicPr>
          <p:nvPr/>
        </p:nvPicPr>
        <p:blipFill>
          <a:blip r:embed="rId2"/>
          <a:stretch>
            <a:fillRect/>
          </a:stretch>
        </p:blipFill>
        <p:spPr>
          <a:xfrm>
            <a:off x="5106233" y="2317629"/>
            <a:ext cx="1979533" cy="1915065"/>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29A00AE-CCA4-F22E-DE6F-A305714A4D04}"/>
                  </a:ext>
                </a:extLst>
              </p14:cNvPr>
              <p14:cNvContentPartPr/>
              <p14:nvPr/>
            </p14:nvContentPartPr>
            <p14:xfrm>
              <a:off x="6073152" y="1918643"/>
              <a:ext cx="43920" cy="46440"/>
            </p14:xfrm>
          </p:contentPart>
        </mc:Choice>
        <mc:Fallback xmlns="">
          <p:pic>
            <p:nvPicPr>
              <p:cNvPr id="3" name="Ink 2">
                <a:extLst>
                  <a:ext uri="{FF2B5EF4-FFF2-40B4-BE49-F238E27FC236}">
                    <a16:creationId xmlns:a16="http://schemas.microsoft.com/office/drawing/2014/main" id="{D29A00AE-CCA4-F22E-DE6F-A305714A4D04}"/>
                  </a:ext>
                </a:extLst>
              </p:cNvPr>
              <p:cNvPicPr/>
              <p:nvPr/>
            </p:nvPicPr>
            <p:blipFill>
              <a:blip r:embed="rId4"/>
              <a:stretch>
                <a:fillRect/>
              </a:stretch>
            </p:blipFill>
            <p:spPr>
              <a:xfrm>
                <a:off x="6067032" y="1912523"/>
                <a:ext cx="561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FCF3DA98-209A-9DDD-C8E7-365A043FEE7A}"/>
                  </a:ext>
                </a:extLst>
              </p14:cNvPr>
              <p14:cNvContentPartPr/>
              <p14:nvPr/>
            </p14:nvContentPartPr>
            <p14:xfrm>
              <a:off x="7690272" y="1840883"/>
              <a:ext cx="34200" cy="11520"/>
            </p14:xfrm>
          </p:contentPart>
        </mc:Choice>
        <mc:Fallback xmlns="">
          <p:pic>
            <p:nvPicPr>
              <p:cNvPr id="5" name="Ink 4">
                <a:extLst>
                  <a:ext uri="{FF2B5EF4-FFF2-40B4-BE49-F238E27FC236}">
                    <a16:creationId xmlns:a16="http://schemas.microsoft.com/office/drawing/2014/main" id="{FCF3DA98-209A-9DDD-C8E7-365A043FEE7A}"/>
                  </a:ext>
                </a:extLst>
              </p:cNvPr>
              <p:cNvPicPr/>
              <p:nvPr/>
            </p:nvPicPr>
            <p:blipFill>
              <a:blip r:embed="rId6"/>
              <a:stretch>
                <a:fillRect/>
              </a:stretch>
            </p:blipFill>
            <p:spPr>
              <a:xfrm>
                <a:off x="7684152" y="1834763"/>
                <a:ext cx="46440" cy="23760"/>
              </a:xfrm>
              <a:prstGeom prst="rect">
                <a:avLst/>
              </a:prstGeom>
            </p:spPr>
          </p:pic>
        </mc:Fallback>
      </mc:AlternateContent>
    </p:spTree>
    <p:extLst>
      <p:ext uri="{BB962C8B-B14F-4D97-AF65-F5344CB8AC3E}">
        <p14:creationId xmlns:p14="http://schemas.microsoft.com/office/powerpoint/2010/main" val="1879872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951F87-1969-511E-F12A-1681A56D80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44800-9D05-326B-6556-EC5903C080C8}"/>
              </a:ext>
            </a:extLst>
          </p:cNvPr>
          <p:cNvSpPr>
            <a:spLocks noGrp="1"/>
          </p:cNvSpPr>
          <p:nvPr>
            <p:ph type="ctrTitle"/>
          </p:nvPr>
        </p:nvSpPr>
        <p:spPr>
          <a:xfrm>
            <a:off x="1381272" y="2885892"/>
            <a:ext cx="9440034" cy="1828801"/>
          </a:xfrm>
        </p:spPr>
        <p:txBody>
          <a:bodyPr>
            <a:normAutofit/>
          </a:bodyPr>
          <a:lstStyle/>
          <a:p>
            <a:pPr rtl="1"/>
            <a:r>
              <a:rPr lang="fa-IR" sz="6600" b="1" dirty="0">
                <a:latin typeface="IRANSans" panose="02040503050201020203" pitchFamily="18" charset="-78"/>
                <a:cs typeface="IRANSans" panose="02040503050201020203" pitchFamily="18" charset="-78"/>
              </a:rPr>
              <a:t>متغیر ها در پایتون</a:t>
            </a:r>
            <a:endParaRPr lang="en-US" sz="66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DFF223E5-00EC-2E79-506A-CFAAB835EB52}"/>
              </a:ext>
            </a:extLst>
          </p:cNvPr>
          <p:cNvSpPr txBox="1"/>
          <p:nvPr/>
        </p:nvSpPr>
        <p:spPr>
          <a:xfrm>
            <a:off x="1381272" y="5231255"/>
            <a:ext cx="9429456" cy="1061829"/>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6" name="Picture 5">
            <a:extLst>
              <a:ext uri="{FF2B5EF4-FFF2-40B4-BE49-F238E27FC236}">
                <a16:creationId xmlns:a16="http://schemas.microsoft.com/office/drawing/2014/main" id="{1DEA0660-FB77-67B4-2452-7798DF0E06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531" y="452272"/>
            <a:ext cx="2516938" cy="2516938"/>
          </a:xfrm>
          <a:prstGeom prst="rect">
            <a:avLst/>
          </a:prstGeom>
        </p:spPr>
      </p:pic>
    </p:spTree>
    <p:extLst>
      <p:ext uri="{BB962C8B-B14F-4D97-AF65-F5344CB8AC3E}">
        <p14:creationId xmlns:p14="http://schemas.microsoft.com/office/powerpoint/2010/main" val="41935020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A42DF-68AB-B23A-F1F3-98E4224AB6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C6A221-FD69-9D67-5F7B-D55D97F02BEF}"/>
              </a:ext>
            </a:extLst>
          </p:cNvPr>
          <p:cNvSpPr>
            <a:spLocks noGrp="1"/>
          </p:cNvSpPr>
          <p:nvPr>
            <p:ph type="title"/>
          </p:nvPr>
        </p:nvSpPr>
        <p:spPr/>
        <p:txBody>
          <a:bodyPr>
            <a:normAutofit/>
          </a:bodyPr>
          <a:lstStyle/>
          <a:p>
            <a:r>
              <a:rPr lang="fa-IR"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متغیر ها </a:t>
            </a:r>
            <a:endParaRPr lang="en-US"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pic>
        <p:nvPicPr>
          <p:cNvPr id="5" name="Content Placeholder 4">
            <a:extLst>
              <a:ext uri="{FF2B5EF4-FFF2-40B4-BE49-F238E27FC236}">
                <a16:creationId xmlns:a16="http://schemas.microsoft.com/office/drawing/2014/main" id="{BD4639F7-DFFD-21C3-23E6-26DCACA27522}"/>
              </a:ext>
            </a:extLst>
          </p:cNvPr>
          <p:cNvPicPr>
            <a:picLocks noGrp="1" noChangeAspect="1"/>
          </p:cNvPicPr>
          <p:nvPr>
            <p:ph idx="1"/>
          </p:nvPr>
        </p:nvPicPr>
        <p:blipFill>
          <a:blip r:embed="rId2"/>
          <a:stretch>
            <a:fillRect/>
          </a:stretch>
        </p:blipFill>
        <p:spPr>
          <a:xfrm>
            <a:off x="1499176" y="1841501"/>
            <a:ext cx="9184124" cy="4406900"/>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005234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EF3B8-2999-7CEA-EC90-4F00EF443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310C3A-48FC-BAA5-E064-0966C33EFC77}"/>
              </a:ext>
            </a:extLst>
          </p:cNvPr>
          <p:cNvSpPr>
            <a:spLocks noGrp="1"/>
          </p:cNvSpPr>
          <p:nvPr>
            <p:ph type="title"/>
          </p:nvPr>
        </p:nvSpPr>
        <p:spPr/>
        <p:txBody>
          <a:bodyPr>
            <a:normAutofit/>
          </a:bodyPr>
          <a:lstStyle/>
          <a:p>
            <a:r>
              <a:rPr lang="fa-IR"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متغیر ها </a:t>
            </a:r>
            <a:endParaRPr lang="en-US"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pic>
        <p:nvPicPr>
          <p:cNvPr id="7" name="Content Placeholder 6">
            <a:extLst>
              <a:ext uri="{FF2B5EF4-FFF2-40B4-BE49-F238E27FC236}">
                <a16:creationId xmlns:a16="http://schemas.microsoft.com/office/drawing/2014/main" id="{9BFE51D2-9762-0F4E-9109-88BA7AE9CB8D}"/>
              </a:ext>
            </a:extLst>
          </p:cNvPr>
          <p:cNvPicPr>
            <a:picLocks noGrp="1" noChangeAspect="1"/>
          </p:cNvPicPr>
          <p:nvPr>
            <p:ph idx="1"/>
          </p:nvPr>
        </p:nvPicPr>
        <p:blipFill>
          <a:blip r:embed="rId2"/>
          <a:stretch>
            <a:fillRect/>
          </a:stretch>
        </p:blipFill>
        <p:spPr>
          <a:xfrm>
            <a:off x="1101644" y="2243738"/>
            <a:ext cx="9979186" cy="3035686"/>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7696828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CB92CF-98E6-9532-E89E-F56691B081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B4BCDE-3EAA-BADE-367A-ADB954B08906}"/>
              </a:ext>
            </a:extLst>
          </p:cNvPr>
          <p:cNvSpPr>
            <a:spLocks noGrp="1"/>
          </p:cNvSpPr>
          <p:nvPr>
            <p:ph type="title"/>
          </p:nvPr>
        </p:nvSpPr>
        <p:spPr/>
        <p:txBody>
          <a:bodyPr>
            <a:normAutofit/>
          </a:bodyPr>
          <a:lstStyle/>
          <a:p>
            <a:r>
              <a:rPr lang="fa-IR"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متغیر ها </a:t>
            </a:r>
            <a:endParaRPr lang="en-US" sz="3200"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pic>
        <p:nvPicPr>
          <p:cNvPr id="9" name="Content Placeholder 8">
            <a:extLst>
              <a:ext uri="{FF2B5EF4-FFF2-40B4-BE49-F238E27FC236}">
                <a16:creationId xmlns:a16="http://schemas.microsoft.com/office/drawing/2014/main" id="{33DDB2CF-25EF-DF57-1EF6-8D9BFC5F528D}"/>
              </a:ext>
            </a:extLst>
          </p:cNvPr>
          <p:cNvPicPr>
            <a:picLocks noGrp="1" noChangeAspect="1"/>
          </p:cNvPicPr>
          <p:nvPr>
            <p:ph idx="1"/>
          </p:nvPr>
        </p:nvPicPr>
        <p:blipFill>
          <a:blip r:embed="rId2"/>
          <a:stretch>
            <a:fillRect/>
          </a:stretch>
        </p:blipFill>
        <p:spPr>
          <a:xfrm>
            <a:off x="1073164" y="2028586"/>
            <a:ext cx="10036146" cy="346599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27085468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3D8ED-8B50-E215-7A45-B398E7B8B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75B06-BFAC-73D5-80EE-7449C9CEF1D7}"/>
              </a:ext>
            </a:extLst>
          </p:cNvPr>
          <p:cNvSpPr>
            <a:spLocks noGrp="1"/>
          </p:cNvSpPr>
          <p:nvPr>
            <p:ph type="title"/>
          </p:nvPr>
        </p:nvSpPr>
        <p:spPr/>
        <p:txBody>
          <a:bodyPr>
            <a:normAutofit/>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1</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A7F2563D-595D-9137-2892-C970B09FFB70}"/>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نام خود را در متغیر </a:t>
            </a:r>
            <a:r>
              <a:rPr lang="en-US" sz="4400" dirty="0">
                <a:latin typeface="IRANSans" panose="02040503050201020203" pitchFamily="18" charset="-78"/>
                <a:cs typeface="IRANSans" panose="02040503050201020203" pitchFamily="18" charset="-78"/>
              </a:rPr>
              <a:t>x</a:t>
            </a:r>
            <a:r>
              <a:rPr lang="fa-IR" sz="4400" dirty="0">
                <a:latin typeface="IRANSans" panose="02040503050201020203" pitchFamily="18" charset="-78"/>
                <a:cs typeface="IRANSans" panose="02040503050201020203" pitchFamily="18" charset="-78"/>
              </a:rPr>
              <a:t> ذخیره کرده (مثلا </a:t>
            </a:r>
            <a:r>
              <a:rPr lang="en-US" sz="4400" dirty="0">
                <a:latin typeface="IRANSans" panose="02040503050201020203" pitchFamily="18" charset="-78"/>
                <a:cs typeface="IRANSans" panose="02040503050201020203" pitchFamily="18" charset="-78"/>
              </a:rPr>
              <a:t>Ali</a:t>
            </a:r>
            <a:r>
              <a:rPr lang="fa-IR" sz="4400" dirty="0">
                <a:latin typeface="IRANSans" panose="02040503050201020203" pitchFamily="18" charset="-78"/>
                <a:cs typeface="IRANSans" panose="02040503050201020203" pitchFamily="18" charset="-78"/>
              </a:rPr>
              <a:t>) و سپس چاپ کند </a:t>
            </a:r>
            <a:r>
              <a:rPr lang="en-US" sz="4400" dirty="0" err="1">
                <a:latin typeface="IRANSans" panose="02040503050201020203" pitchFamily="18" charset="-78"/>
                <a:cs typeface="IRANSans" panose="02040503050201020203" pitchFamily="18" charset="-78"/>
              </a:rPr>
              <a:t>salam</a:t>
            </a:r>
            <a:r>
              <a:rPr lang="en-US" sz="4400" dirty="0">
                <a:latin typeface="IRANSans" panose="02040503050201020203" pitchFamily="18" charset="-78"/>
                <a:cs typeface="IRANSans" panose="02040503050201020203" pitchFamily="18" charset="-78"/>
              </a:rPr>
              <a:t> Ali</a:t>
            </a:r>
            <a:endParaRPr lang="fa-IR" sz="4400"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940492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89CE8-86F1-8420-6282-ADFE340F6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F7E693-0757-555A-E4D8-556D07B1E4E6}"/>
              </a:ext>
            </a:extLst>
          </p:cNvPr>
          <p:cNvSpPr>
            <a:spLocks noGrp="1"/>
          </p:cNvSpPr>
          <p:nvPr>
            <p:ph type="title"/>
          </p:nvPr>
        </p:nvSpPr>
        <p:spPr/>
        <p:txBody>
          <a:bodyPr>
            <a:normAutofit/>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2</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7EDB36CF-56F2-972F-149A-72FD554EBFD6}"/>
              </a:ext>
            </a:extLst>
          </p:cNvPr>
          <p:cNvSpPr>
            <a:spLocks noGrp="1"/>
          </p:cNvSpPr>
          <p:nvPr>
            <p:ph idx="1"/>
          </p:nvPr>
        </p:nvSpPr>
        <p:spPr/>
        <p:txBody>
          <a:bodyPr>
            <a:normAutofit fontScale="92500"/>
          </a:bodyPr>
          <a:lstStyle/>
          <a:p>
            <a:pPr algn="r" rtl="1">
              <a:lnSpc>
                <a:spcPct val="150000"/>
              </a:lnSpc>
            </a:pPr>
            <a:r>
              <a:rPr lang="fa-IR" sz="4400" dirty="0">
                <a:latin typeface="IRANSans" panose="02040503050201020203" pitchFamily="18" charset="-78"/>
                <a:cs typeface="IRANSans" panose="02040503050201020203" pitchFamily="18" charset="-78"/>
              </a:rPr>
              <a:t>دو متغیر </a:t>
            </a:r>
            <a:r>
              <a:rPr lang="en-US" sz="4400" dirty="0">
                <a:latin typeface="IRANSans" panose="02040503050201020203" pitchFamily="18" charset="-78"/>
                <a:cs typeface="IRANSans" panose="02040503050201020203" pitchFamily="18" charset="-78"/>
              </a:rPr>
              <a:t>x</a:t>
            </a:r>
            <a:r>
              <a:rPr lang="fa-IR" sz="4400" dirty="0">
                <a:latin typeface="IRANSans" panose="02040503050201020203" pitchFamily="18" charset="-78"/>
                <a:cs typeface="IRANSans" panose="02040503050201020203" pitchFamily="18" charset="-78"/>
              </a:rPr>
              <a:t> و </a:t>
            </a:r>
            <a:r>
              <a:rPr lang="en-US" sz="4400" dirty="0">
                <a:latin typeface="IRANSans" panose="02040503050201020203" pitchFamily="18" charset="-78"/>
                <a:cs typeface="IRANSans" panose="02040503050201020203" pitchFamily="18" charset="-78"/>
              </a:rPr>
              <a:t>y</a:t>
            </a:r>
            <a:r>
              <a:rPr lang="fa-IR" sz="4400" dirty="0">
                <a:latin typeface="IRANSans" panose="02040503050201020203" pitchFamily="18" charset="-78"/>
                <a:cs typeface="IRANSans" panose="02040503050201020203" pitchFamily="18" charset="-78"/>
              </a:rPr>
              <a:t> با مقدار دلخواه تعریف کنید سپس مجموع، ضرب و اختلاف آنها را چاپ کنید</a:t>
            </a:r>
            <a:endParaRPr lang="en-US" sz="4400" dirty="0">
              <a:latin typeface="IRANSans" panose="02040503050201020203" pitchFamily="18" charset="-78"/>
              <a:cs typeface="IRANSans" panose="02040503050201020203" pitchFamily="18" charset="-78"/>
            </a:endParaRPr>
          </a:p>
          <a:p>
            <a:pPr algn="l">
              <a:lnSpc>
                <a:spcPct val="150000"/>
              </a:lnSpc>
            </a:pPr>
            <a:r>
              <a:rPr lang="fa-IR" sz="4400" dirty="0">
                <a:latin typeface="IRANSans" panose="02040503050201020203" pitchFamily="18" charset="-78"/>
                <a:cs typeface="IRANSans" panose="02040503050201020203" pitchFamily="18" charset="-78"/>
              </a:rPr>
              <a:t>10.18.241.30</a:t>
            </a:r>
            <a:r>
              <a:rPr lang="en-US" sz="4400" dirty="0">
                <a:latin typeface="IRANSans" panose="02040503050201020203" pitchFamily="18" charset="-78"/>
                <a:cs typeface="IRANSans" panose="02040503050201020203" pitchFamily="18" charset="-78"/>
              </a:rPr>
              <a:t>:3000</a:t>
            </a:r>
            <a:endParaRPr lang="fa-IR" sz="4400" dirty="0">
              <a:latin typeface="IRANSans" panose="02040503050201020203" pitchFamily="18" charset="-78"/>
              <a:cs typeface="IRANSans" panose="02040503050201020203" pitchFamily="18" charset="-78"/>
            </a:endParaRPr>
          </a:p>
          <a:p>
            <a:pPr algn="r" rtl="1">
              <a:lnSpc>
                <a:spcPct val="150000"/>
              </a:lnSpc>
            </a:pPr>
            <a:endParaRPr lang="fa-IR" sz="4400"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4155783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7B215-BE05-86B0-B9AE-2381FE120B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8B7AD-A829-077D-8ECD-5E3022558F4B}"/>
              </a:ext>
            </a:extLst>
          </p:cNvPr>
          <p:cNvSpPr>
            <a:spLocks noGrp="1"/>
          </p:cNvSpPr>
          <p:nvPr>
            <p:ph type="title"/>
          </p:nvPr>
        </p:nvSpPr>
        <p:spPr/>
        <p:txBody>
          <a:bodyPr>
            <a:normAutofit/>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3</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BA12E5AA-D7B4-4162-97E0-77817D22BE7A}"/>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3 عدد را در سه متغیر </a:t>
            </a:r>
            <a:r>
              <a:rPr lang="en-US" sz="4400" dirty="0">
                <a:latin typeface="IRANSans" panose="02040503050201020203" pitchFamily="18" charset="-78"/>
                <a:cs typeface="IRANSans" panose="02040503050201020203" pitchFamily="18" charset="-78"/>
              </a:rPr>
              <a:t>a, b, c</a:t>
            </a:r>
            <a:r>
              <a:rPr lang="fa-IR" sz="4400" dirty="0">
                <a:latin typeface="IRANSans" panose="02040503050201020203" pitchFamily="18" charset="-78"/>
                <a:cs typeface="IRANSans" panose="02040503050201020203" pitchFamily="18" charset="-78"/>
              </a:rPr>
              <a:t> ذخیره کند و میانگین آن ها را چاپ کند.</a:t>
            </a:r>
          </a:p>
        </p:txBody>
      </p:sp>
    </p:spTree>
    <p:extLst>
      <p:ext uri="{BB962C8B-B14F-4D97-AF65-F5344CB8AC3E}">
        <p14:creationId xmlns:p14="http://schemas.microsoft.com/office/powerpoint/2010/main" val="657704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8ECCF-B6D5-C6CD-2C01-8106C1461C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B4D28C-3A64-6970-C590-93A234D5ED53}"/>
              </a:ext>
            </a:extLst>
          </p:cNvPr>
          <p:cNvSpPr txBox="1"/>
          <p:nvPr/>
        </p:nvSpPr>
        <p:spPr>
          <a:xfrm>
            <a:off x="1152544" y="148431"/>
            <a:ext cx="9777909" cy="5262979"/>
          </a:xfrm>
          <a:prstGeom prst="rect">
            <a:avLst/>
          </a:prstGeom>
          <a:noFill/>
        </p:spPr>
        <p:txBody>
          <a:bodyPr wrap="square" rtlCol="0">
            <a:spAutoFit/>
          </a:bodyPr>
          <a:lstStyle/>
          <a:p>
            <a:pPr algn="ctr">
              <a:lnSpc>
                <a:spcPct val="150000"/>
              </a:lnSpc>
            </a:pPr>
            <a:r>
              <a:rPr lang="fa-IR" sz="4800" b="1" dirty="0">
                <a:solidFill>
                  <a:srgbClr val="92D050"/>
                </a:solidFill>
                <a:latin typeface="IRANSans" panose="02040503050201020203" pitchFamily="18" charset="-78"/>
                <a:ea typeface="Tahoma" panose="020B0604030504040204" pitchFamily="34" charset="0"/>
                <a:cs typeface="IRANSans" panose="02040503050201020203" pitchFamily="18" charset="-78"/>
              </a:rPr>
              <a:t>تکلیف:</a:t>
            </a:r>
          </a:p>
          <a:p>
            <a:pPr algn="just" rtl="1">
              <a:lnSpc>
                <a:spcPct val="150000"/>
              </a:lnSpc>
            </a:pPr>
            <a:r>
              <a:rPr lang="fa-IR" sz="4400" b="1" dirty="0">
                <a:latin typeface="IRANSans" panose="02040503050201020203" pitchFamily="18" charset="-78"/>
                <a:ea typeface="Tahoma" panose="020B0604030504040204" pitchFamily="34" charset="0"/>
                <a:cs typeface="IRANSans" panose="02040503050201020203" pitchFamily="18" charset="-78"/>
              </a:rPr>
              <a:t>برنامه ای بنویسید که طول و عرض یک مستطیل را در متغیر های </a:t>
            </a:r>
            <a:r>
              <a:rPr lang="en-US" sz="4400" b="1" dirty="0">
                <a:latin typeface="IRANSans" panose="02040503050201020203" pitchFamily="18" charset="-78"/>
                <a:ea typeface="Tahoma" panose="020B0604030504040204" pitchFamily="34" charset="0"/>
                <a:cs typeface="IRANSans" panose="02040503050201020203" pitchFamily="18" charset="-78"/>
              </a:rPr>
              <a:t>a</a:t>
            </a:r>
            <a:r>
              <a:rPr lang="fa-IR" sz="4400" b="1" dirty="0">
                <a:latin typeface="IRANSans" panose="02040503050201020203" pitchFamily="18" charset="-78"/>
                <a:ea typeface="Tahoma" panose="020B0604030504040204" pitchFamily="34" charset="0"/>
                <a:cs typeface="IRANSans" panose="02040503050201020203" pitchFamily="18" charset="-78"/>
              </a:rPr>
              <a:t> و </a:t>
            </a:r>
            <a:r>
              <a:rPr lang="en-US" sz="4400" b="1" dirty="0">
                <a:latin typeface="IRANSans" panose="02040503050201020203" pitchFamily="18" charset="-78"/>
                <a:ea typeface="Tahoma" panose="020B0604030504040204" pitchFamily="34" charset="0"/>
                <a:cs typeface="IRANSans" panose="02040503050201020203" pitchFamily="18" charset="-78"/>
              </a:rPr>
              <a:t>b</a:t>
            </a:r>
            <a:r>
              <a:rPr lang="fa-IR" sz="4400" b="1" dirty="0">
                <a:latin typeface="IRANSans" panose="02040503050201020203" pitchFamily="18" charset="-78"/>
                <a:ea typeface="Tahoma" panose="020B0604030504040204" pitchFamily="34" charset="0"/>
                <a:cs typeface="IRANSans" panose="02040503050201020203" pitchFamily="18" charset="-78"/>
              </a:rPr>
              <a:t> ذخیره کند و محیط و مساحت آن را چاپ کند.</a:t>
            </a:r>
          </a:p>
          <a:p>
            <a:pPr algn="l">
              <a:lnSpc>
                <a:spcPct val="150000"/>
              </a:lnSpc>
            </a:pPr>
            <a:r>
              <a:rPr lang="en-US" sz="4800" b="1" dirty="0">
                <a:solidFill>
                  <a:srgbClr val="00B0F0"/>
                </a:solidFill>
                <a:latin typeface="IRANSans" panose="02040503050201020203" pitchFamily="18" charset="-78"/>
                <a:ea typeface="Tahoma" panose="020B0604030504040204" pitchFamily="34" charset="0"/>
                <a:cs typeface="IRANSans" panose="02040503050201020203" pitchFamily="18" charset="-78"/>
              </a:rPr>
              <a:t>@att_python</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67A57D87-B33E-F61C-567E-59FE93C96C2A}"/>
                  </a:ext>
                </a:extLst>
              </p14:cNvPr>
              <p14:cNvContentPartPr/>
              <p14:nvPr/>
            </p14:nvContentPartPr>
            <p14:xfrm>
              <a:off x="6073152" y="1918643"/>
              <a:ext cx="43920" cy="46440"/>
            </p14:xfrm>
          </p:contentPart>
        </mc:Choice>
        <mc:Fallback xmlns="">
          <p:pic>
            <p:nvPicPr>
              <p:cNvPr id="3" name="Ink 2">
                <a:extLst>
                  <a:ext uri="{FF2B5EF4-FFF2-40B4-BE49-F238E27FC236}">
                    <a16:creationId xmlns:a16="http://schemas.microsoft.com/office/drawing/2014/main" id="{67A57D87-B33E-F61C-567E-59FE93C96C2A}"/>
                  </a:ext>
                </a:extLst>
              </p:cNvPr>
              <p:cNvPicPr/>
              <p:nvPr/>
            </p:nvPicPr>
            <p:blipFill>
              <a:blip r:embed="rId3"/>
              <a:stretch>
                <a:fillRect/>
              </a:stretch>
            </p:blipFill>
            <p:spPr>
              <a:xfrm>
                <a:off x="6067032" y="1912523"/>
                <a:ext cx="561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87791158-4A08-77E4-F2C1-5E4FFFCC0150}"/>
                  </a:ext>
                </a:extLst>
              </p14:cNvPr>
              <p14:cNvContentPartPr/>
              <p14:nvPr/>
            </p14:nvContentPartPr>
            <p14:xfrm>
              <a:off x="7690272" y="1840883"/>
              <a:ext cx="34200" cy="11520"/>
            </p14:xfrm>
          </p:contentPart>
        </mc:Choice>
        <mc:Fallback xmlns="">
          <p:pic>
            <p:nvPicPr>
              <p:cNvPr id="5" name="Ink 4">
                <a:extLst>
                  <a:ext uri="{FF2B5EF4-FFF2-40B4-BE49-F238E27FC236}">
                    <a16:creationId xmlns:a16="http://schemas.microsoft.com/office/drawing/2014/main" id="{87791158-4A08-77E4-F2C1-5E4FFFCC0150}"/>
                  </a:ext>
                </a:extLst>
              </p:cNvPr>
              <p:cNvPicPr/>
              <p:nvPr/>
            </p:nvPicPr>
            <p:blipFill>
              <a:blip r:embed="rId5"/>
              <a:stretch>
                <a:fillRect/>
              </a:stretch>
            </p:blipFill>
            <p:spPr>
              <a:xfrm>
                <a:off x="7684152" y="1834763"/>
                <a:ext cx="46440" cy="23760"/>
              </a:xfrm>
              <a:prstGeom prst="rect">
                <a:avLst/>
              </a:prstGeom>
            </p:spPr>
          </p:pic>
        </mc:Fallback>
      </mc:AlternateContent>
    </p:spTree>
    <p:extLst>
      <p:ext uri="{BB962C8B-B14F-4D97-AF65-F5344CB8AC3E}">
        <p14:creationId xmlns:p14="http://schemas.microsoft.com/office/powerpoint/2010/main" val="3981401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25472-9204-4EE0-F335-8D57D3BB4E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5C25BE-C50A-C48F-5E71-C59A721021BD}"/>
              </a:ext>
            </a:extLst>
          </p:cNvPr>
          <p:cNvSpPr>
            <a:spLocks noGrp="1"/>
          </p:cNvSpPr>
          <p:nvPr>
            <p:ph type="ctrTitle"/>
          </p:nvPr>
        </p:nvSpPr>
        <p:spPr>
          <a:xfrm>
            <a:off x="1381272" y="2885892"/>
            <a:ext cx="9440034" cy="1828801"/>
          </a:xfrm>
        </p:spPr>
        <p:txBody>
          <a:bodyPr>
            <a:normAutofit/>
          </a:bodyPr>
          <a:lstStyle/>
          <a:p>
            <a:pPr rtl="1"/>
            <a:r>
              <a:rPr lang="fa-IR" sz="6600" b="1" dirty="0">
                <a:solidFill>
                  <a:srgbClr val="92D050"/>
                </a:solidFill>
                <a:latin typeface="IRANSans" panose="02040503050201020203" pitchFamily="18" charset="-78"/>
                <a:cs typeface="IRANSans" panose="02040503050201020203" pitchFamily="18" charset="-78"/>
              </a:rPr>
              <a:t>کلید های میانبر</a:t>
            </a:r>
            <a:endParaRPr lang="en-US" sz="66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5CE07998-ECB9-6CFC-53B3-443A8AF1F853}"/>
              </a:ext>
            </a:extLst>
          </p:cNvPr>
          <p:cNvSpPr txBox="1"/>
          <p:nvPr/>
        </p:nvSpPr>
        <p:spPr>
          <a:xfrm>
            <a:off x="1381272" y="5231255"/>
            <a:ext cx="9429456" cy="1061829"/>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3" name="Picture 2">
            <a:extLst>
              <a:ext uri="{FF2B5EF4-FFF2-40B4-BE49-F238E27FC236}">
                <a16:creationId xmlns:a16="http://schemas.microsoft.com/office/drawing/2014/main" id="{583076C0-F13A-154A-3A8E-33D7CBBBD4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H="1">
            <a:off x="4414755" y="1216552"/>
            <a:ext cx="3362490" cy="1274206"/>
          </a:xfrm>
          <a:prstGeom prst="rect">
            <a:avLst/>
          </a:prstGeom>
        </p:spPr>
      </p:pic>
    </p:spTree>
    <p:extLst>
      <p:ext uri="{BB962C8B-B14F-4D97-AF65-F5344CB8AC3E}">
        <p14:creationId xmlns:p14="http://schemas.microsoft.com/office/powerpoint/2010/main" val="41301212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90C999-A2DE-E194-84B1-225B21F260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06" y="1584773"/>
            <a:ext cx="12013188" cy="4552366"/>
          </a:xfrm>
          <a:prstGeom prst="rect">
            <a:avLst/>
          </a:prstGeom>
        </p:spPr>
      </p:pic>
      <p:sp>
        <p:nvSpPr>
          <p:cNvPr id="4" name="Title 1">
            <a:extLst>
              <a:ext uri="{FF2B5EF4-FFF2-40B4-BE49-F238E27FC236}">
                <a16:creationId xmlns:a16="http://schemas.microsoft.com/office/drawing/2014/main" id="{8C49B3E9-3F4C-781F-BC0C-F2433AACB777}"/>
              </a:ext>
            </a:extLst>
          </p:cNvPr>
          <p:cNvSpPr txBox="1">
            <a:spLocks/>
          </p:cNvSpPr>
          <p:nvPr/>
        </p:nvSpPr>
        <p:spPr>
          <a:xfrm>
            <a:off x="913795" y="609600"/>
            <a:ext cx="10353762" cy="970450"/>
          </a:xfrm>
          <a:prstGeom prst="rect">
            <a:avLst/>
          </a:prstGeom>
        </p:spPr>
        <p:txBody>
          <a:bodyP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بستن برنامه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Alt + F4</a:t>
            </a:r>
          </a:p>
        </p:txBody>
      </p:sp>
      <p:sp>
        <p:nvSpPr>
          <p:cNvPr id="5" name="Rectangle 4">
            <a:extLst>
              <a:ext uri="{FF2B5EF4-FFF2-40B4-BE49-F238E27FC236}">
                <a16:creationId xmlns:a16="http://schemas.microsoft.com/office/drawing/2014/main" id="{2C5B384E-9B5B-150F-4276-DAB2935C5287}"/>
              </a:ext>
            </a:extLst>
          </p:cNvPr>
          <p:cNvSpPr/>
          <p:nvPr/>
        </p:nvSpPr>
        <p:spPr>
          <a:xfrm>
            <a:off x="1699773" y="5132982"/>
            <a:ext cx="785375" cy="678787"/>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801216B-4EBE-7F69-67CF-9A4C0B6D7493}"/>
              </a:ext>
            </a:extLst>
          </p:cNvPr>
          <p:cNvSpPr/>
          <p:nvPr/>
        </p:nvSpPr>
        <p:spPr>
          <a:xfrm>
            <a:off x="2628143" y="1834856"/>
            <a:ext cx="727462" cy="718545"/>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40436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1328C-C5EB-91AD-B78E-D98C7511925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622971B-B443-F209-04A0-C941B486AB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06" y="1584773"/>
            <a:ext cx="12013188" cy="4552366"/>
          </a:xfrm>
          <a:prstGeom prst="rect">
            <a:avLst/>
          </a:prstGeom>
        </p:spPr>
      </p:pic>
      <p:sp>
        <p:nvSpPr>
          <p:cNvPr id="4" name="Title 1">
            <a:extLst>
              <a:ext uri="{FF2B5EF4-FFF2-40B4-BE49-F238E27FC236}">
                <a16:creationId xmlns:a16="http://schemas.microsoft.com/office/drawing/2014/main" id="{B1595E1C-F4E5-AD03-88A7-A5F338567791}"/>
              </a:ext>
            </a:extLst>
          </p:cNvPr>
          <p:cNvSpPr txBox="1">
            <a:spLocks/>
          </p:cNvSpPr>
          <p:nvPr/>
        </p:nvSpPr>
        <p:spPr>
          <a:xfrm>
            <a:off x="913795" y="609600"/>
            <a:ext cx="10353762" cy="970450"/>
          </a:xfrm>
          <a:prstGeom prst="rect">
            <a:avLst/>
          </a:prstGeom>
        </p:spPr>
        <p:txBody>
          <a:bodyP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حرکت بین اپلیکیشن ها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Alt + Tab</a:t>
            </a:r>
          </a:p>
        </p:txBody>
      </p:sp>
      <p:sp>
        <p:nvSpPr>
          <p:cNvPr id="5" name="Rectangle 4">
            <a:extLst>
              <a:ext uri="{FF2B5EF4-FFF2-40B4-BE49-F238E27FC236}">
                <a16:creationId xmlns:a16="http://schemas.microsoft.com/office/drawing/2014/main" id="{D2AE237D-CB63-98D0-454B-CDC696C7ED4F}"/>
              </a:ext>
            </a:extLst>
          </p:cNvPr>
          <p:cNvSpPr/>
          <p:nvPr/>
        </p:nvSpPr>
        <p:spPr>
          <a:xfrm>
            <a:off x="1699773" y="5132982"/>
            <a:ext cx="785375" cy="678787"/>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1F1D2D0-DDC0-AD35-20E4-68BE1474CB21}"/>
              </a:ext>
            </a:extLst>
          </p:cNvPr>
          <p:cNvSpPr/>
          <p:nvPr/>
        </p:nvSpPr>
        <p:spPr>
          <a:xfrm>
            <a:off x="278559" y="3429000"/>
            <a:ext cx="890177" cy="718545"/>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8572590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BB592F-81BF-6B99-0103-1970F14246E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505F293B-3F37-2AD6-120A-3187D274D5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06" y="1584773"/>
            <a:ext cx="12013188" cy="4552366"/>
          </a:xfrm>
          <a:prstGeom prst="rect">
            <a:avLst/>
          </a:prstGeom>
        </p:spPr>
      </p:pic>
      <p:sp>
        <p:nvSpPr>
          <p:cNvPr id="4" name="Title 1">
            <a:extLst>
              <a:ext uri="{FF2B5EF4-FFF2-40B4-BE49-F238E27FC236}">
                <a16:creationId xmlns:a16="http://schemas.microsoft.com/office/drawing/2014/main" id="{261CDAAD-D7F6-5C2B-EFE9-21E89C81698B}"/>
              </a:ext>
            </a:extLst>
          </p:cNvPr>
          <p:cNvSpPr txBox="1">
            <a:spLocks/>
          </p:cNvSpPr>
          <p:nvPr/>
        </p:nvSpPr>
        <p:spPr>
          <a:xfrm>
            <a:off x="913795" y="609600"/>
            <a:ext cx="10353762" cy="970450"/>
          </a:xfrm>
          <a:prstGeom prst="rect">
            <a:avLst/>
          </a:prstGeom>
        </p:spPr>
        <p:txBody>
          <a:bodyP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انتخاب کل متن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Ctrl + A</a:t>
            </a:r>
          </a:p>
        </p:txBody>
      </p:sp>
      <p:sp>
        <p:nvSpPr>
          <p:cNvPr id="5" name="Rectangle 4">
            <a:extLst>
              <a:ext uri="{FF2B5EF4-FFF2-40B4-BE49-F238E27FC236}">
                <a16:creationId xmlns:a16="http://schemas.microsoft.com/office/drawing/2014/main" id="{C15F3641-5C5B-39B3-74F7-E6EE7CBE56E8}"/>
              </a:ext>
            </a:extLst>
          </p:cNvPr>
          <p:cNvSpPr/>
          <p:nvPr/>
        </p:nvSpPr>
        <p:spPr>
          <a:xfrm>
            <a:off x="278559" y="5126926"/>
            <a:ext cx="890177" cy="678787"/>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51FA846F-6072-AA84-DFF3-67BF84AEF4EE}"/>
              </a:ext>
            </a:extLst>
          </p:cNvPr>
          <p:cNvSpPr/>
          <p:nvPr/>
        </p:nvSpPr>
        <p:spPr>
          <a:xfrm>
            <a:off x="1168736" y="4045161"/>
            <a:ext cx="666120" cy="592890"/>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58102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F122C-456F-9B28-16BC-F1321A76103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8433FE3-A0DD-256F-21A6-4DF6848E1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06" y="1584773"/>
            <a:ext cx="12013188" cy="4552366"/>
          </a:xfrm>
          <a:prstGeom prst="rect">
            <a:avLst/>
          </a:prstGeom>
        </p:spPr>
      </p:pic>
      <p:sp>
        <p:nvSpPr>
          <p:cNvPr id="4" name="Title 1">
            <a:extLst>
              <a:ext uri="{FF2B5EF4-FFF2-40B4-BE49-F238E27FC236}">
                <a16:creationId xmlns:a16="http://schemas.microsoft.com/office/drawing/2014/main" id="{0ED4F7F9-5B46-205B-F6E4-8F10B0660026}"/>
              </a:ext>
            </a:extLst>
          </p:cNvPr>
          <p:cNvSpPr txBox="1">
            <a:spLocks/>
          </p:cNvSpPr>
          <p:nvPr/>
        </p:nvSpPr>
        <p:spPr>
          <a:xfrm>
            <a:off x="913795" y="609600"/>
            <a:ext cx="10353762" cy="970450"/>
          </a:xfrm>
          <a:prstGeom prst="rect">
            <a:avLst/>
          </a:prstGeom>
        </p:spPr>
        <p:txBody>
          <a:bodyP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کپی کردن متن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Ctrl + C</a:t>
            </a:r>
          </a:p>
        </p:txBody>
      </p:sp>
      <p:sp>
        <p:nvSpPr>
          <p:cNvPr id="5" name="Rectangle 4">
            <a:extLst>
              <a:ext uri="{FF2B5EF4-FFF2-40B4-BE49-F238E27FC236}">
                <a16:creationId xmlns:a16="http://schemas.microsoft.com/office/drawing/2014/main" id="{C6B2415A-B747-26B2-9A1E-71501FED56C9}"/>
              </a:ext>
            </a:extLst>
          </p:cNvPr>
          <p:cNvSpPr/>
          <p:nvPr/>
        </p:nvSpPr>
        <p:spPr>
          <a:xfrm>
            <a:off x="278559" y="5126926"/>
            <a:ext cx="890177" cy="678787"/>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8B13D5C-EEE7-71FE-AFF0-9206B2DD28C5}"/>
              </a:ext>
            </a:extLst>
          </p:cNvPr>
          <p:cNvSpPr/>
          <p:nvPr/>
        </p:nvSpPr>
        <p:spPr>
          <a:xfrm>
            <a:off x="2507030" y="4584112"/>
            <a:ext cx="666120" cy="592890"/>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52044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2B43B-B3BC-58E0-0EF3-E6AD3CB58CF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B43B589-A985-CAD0-2578-370C45FA3D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06" y="1584773"/>
            <a:ext cx="12013188" cy="4552366"/>
          </a:xfrm>
          <a:prstGeom prst="rect">
            <a:avLst/>
          </a:prstGeom>
        </p:spPr>
      </p:pic>
      <p:sp>
        <p:nvSpPr>
          <p:cNvPr id="4" name="Title 1">
            <a:extLst>
              <a:ext uri="{FF2B5EF4-FFF2-40B4-BE49-F238E27FC236}">
                <a16:creationId xmlns:a16="http://schemas.microsoft.com/office/drawing/2014/main" id="{03FF35B1-BAC6-8386-1611-93C43E019703}"/>
              </a:ext>
            </a:extLst>
          </p:cNvPr>
          <p:cNvSpPr txBox="1">
            <a:spLocks/>
          </p:cNvSpPr>
          <p:nvPr/>
        </p:nvSpPr>
        <p:spPr>
          <a:xfrm>
            <a:off x="913795" y="609600"/>
            <a:ext cx="10353762" cy="970450"/>
          </a:xfrm>
          <a:prstGeom prst="rect">
            <a:avLst/>
          </a:prstGeom>
        </p:spPr>
        <p:txBody>
          <a:bodyP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جایگذاری متن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Ctrl + V</a:t>
            </a:r>
          </a:p>
        </p:txBody>
      </p:sp>
      <p:sp>
        <p:nvSpPr>
          <p:cNvPr id="5" name="Rectangle 4">
            <a:extLst>
              <a:ext uri="{FF2B5EF4-FFF2-40B4-BE49-F238E27FC236}">
                <a16:creationId xmlns:a16="http://schemas.microsoft.com/office/drawing/2014/main" id="{55CA7280-8EA3-9C3C-13B4-6439EFEFA3E0}"/>
              </a:ext>
            </a:extLst>
          </p:cNvPr>
          <p:cNvSpPr/>
          <p:nvPr/>
        </p:nvSpPr>
        <p:spPr>
          <a:xfrm>
            <a:off x="278559" y="5126926"/>
            <a:ext cx="890177" cy="678787"/>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0D6464C0-7F63-C633-885C-36EABA100B56}"/>
              </a:ext>
            </a:extLst>
          </p:cNvPr>
          <p:cNvSpPr/>
          <p:nvPr/>
        </p:nvSpPr>
        <p:spPr>
          <a:xfrm>
            <a:off x="3027813" y="4596224"/>
            <a:ext cx="666120" cy="592890"/>
          </a:xfrm>
          <a:prstGeom prst="rect">
            <a:avLst/>
          </a:prstGeom>
          <a:noFill/>
          <a:ln w="1270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743208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A12C6-88FB-DDBC-762D-3436D0A86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0AA0C-4CFA-8299-F16D-B1445AA8873D}"/>
              </a:ext>
            </a:extLst>
          </p:cNvPr>
          <p:cNvSpPr>
            <a:spLocks noGrp="1"/>
          </p:cNvSpPr>
          <p:nvPr>
            <p:ph type="ctrTitle"/>
          </p:nvPr>
        </p:nvSpPr>
        <p:spPr>
          <a:xfrm>
            <a:off x="1381272" y="2885892"/>
            <a:ext cx="9440034" cy="1828801"/>
          </a:xfrm>
        </p:spPr>
        <p:txBody>
          <a:bodyPr>
            <a:normAutofit/>
          </a:bodyPr>
          <a:lstStyle/>
          <a:p>
            <a:pPr rtl="1"/>
            <a:r>
              <a:rPr lang="fa-IR" sz="6600" b="1" dirty="0">
                <a:latin typeface="IRANSans" panose="02040503050201020203" pitchFamily="18" charset="-78"/>
                <a:cs typeface="IRANSans" panose="02040503050201020203" pitchFamily="18" charset="-78"/>
              </a:rPr>
              <a:t>گرفتن ورودی در پایتون</a:t>
            </a:r>
            <a:endParaRPr lang="en-US" sz="66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5D3E4D78-FB53-D161-63EB-A62194A79B84}"/>
              </a:ext>
            </a:extLst>
          </p:cNvPr>
          <p:cNvSpPr txBox="1"/>
          <p:nvPr/>
        </p:nvSpPr>
        <p:spPr>
          <a:xfrm>
            <a:off x="1381272" y="5231255"/>
            <a:ext cx="9429456" cy="1061829"/>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6" name="Picture 5">
            <a:extLst>
              <a:ext uri="{FF2B5EF4-FFF2-40B4-BE49-F238E27FC236}">
                <a16:creationId xmlns:a16="http://schemas.microsoft.com/office/drawing/2014/main" id="{D1CB7C77-0780-3547-31E3-AACF64114E9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531" y="452272"/>
            <a:ext cx="2516938" cy="2516938"/>
          </a:xfrm>
          <a:prstGeom prst="rect">
            <a:avLst/>
          </a:prstGeom>
        </p:spPr>
      </p:pic>
    </p:spTree>
    <p:extLst>
      <p:ext uri="{BB962C8B-B14F-4D97-AF65-F5344CB8AC3E}">
        <p14:creationId xmlns:p14="http://schemas.microsoft.com/office/powerpoint/2010/main" val="5312379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A5486-0865-96C5-C5CE-AFA77BD4DB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5FA6C2-A632-8CE1-1772-500D362460E3}"/>
              </a:ext>
            </a:extLst>
          </p:cNvPr>
          <p:cNvSpPr>
            <a:spLocks noGrp="1"/>
          </p:cNvSpPr>
          <p:nvPr>
            <p:ph type="title"/>
          </p:nvPr>
        </p:nvSpPr>
        <p:spPr/>
        <p:txBody>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گرفتن رشته از کاربر</a:t>
            </a:r>
            <a:endParaRPr lang="en-US" dirty="0"/>
          </a:p>
        </p:txBody>
      </p:sp>
      <p:pic>
        <p:nvPicPr>
          <p:cNvPr id="15" name="Content Placeholder 14">
            <a:extLst>
              <a:ext uri="{FF2B5EF4-FFF2-40B4-BE49-F238E27FC236}">
                <a16:creationId xmlns:a16="http://schemas.microsoft.com/office/drawing/2014/main" id="{E7C9005F-AAA6-C0FA-60F9-A46C40BB7EF4}"/>
              </a:ext>
            </a:extLst>
          </p:cNvPr>
          <p:cNvPicPr>
            <a:picLocks noGrp="1" noChangeAspect="1"/>
          </p:cNvPicPr>
          <p:nvPr>
            <p:ph idx="1"/>
          </p:nvPr>
        </p:nvPicPr>
        <p:blipFill>
          <a:blip r:embed="rId2"/>
          <a:stretch>
            <a:fillRect/>
          </a:stretch>
        </p:blipFill>
        <p:spPr>
          <a:xfrm>
            <a:off x="956152" y="1580050"/>
            <a:ext cx="10269048" cy="1620202"/>
          </a:xfrm>
          <a:prstGeom prst="rect">
            <a:avLst/>
          </a:prstGeom>
          <a:effectLst>
            <a:outerShdw blurRad="25400" dir="17880000">
              <a:srgbClr val="000000">
                <a:alpha val="46000"/>
              </a:srgbClr>
            </a:outerShdw>
          </a:effectLst>
        </p:spPr>
      </p:pic>
      <p:sp>
        <p:nvSpPr>
          <p:cNvPr id="16" name="Title 1">
            <a:extLst>
              <a:ext uri="{FF2B5EF4-FFF2-40B4-BE49-F238E27FC236}">
                <a16:creationId xmlns:a16="http://schemas.microsoft.com/office/drawing/2014/main" id="{A520E99C-2001-61BB-3FC0-01FE961C8B69}"/>
              </a:ext>
            </a:extLst>
          </p:cNvPr>
          <p:cNvSpPr txBox="1">
            <a:spLocks/>
          </p:cNvSpPr>
          <p:nvPr/>
        </p:nvSpPr>
        <p:spPr>
          <a:xfrm>
            <a:off x="832515" y="333248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گرفتن عدد از کاربر</a:t>
            </a:r>
            <a:endParaRPr lang="en-US" dirty="0"/>
          </a:p>
        </p:txBody>
      </p:sp>
      <p:pic>
        <p:nvPicPr>
          <p:cNvPr id="18" name="Picture 17">
            <a:extLst>
              <a:ext uri="{FF2B5EF4-FFF2-40B4-BE49-F238E27FC236}">
                <a16:creationId xmlns:a16="http://schemas.microsoft.com/office/drawing/2014/main" id="{391693F1-E41D-411D-9A60-97B57B7D8AA2}"/>
              </a:ext>
            </a:extLst>
          </p:cNvPr>
          <p:cNvPicPr>
            <a:picLocks noChangeAspect="1"/>
          </p:cNvPicPr>
          <p:nvPr/>
        </p:nvPicPr>
        <p:blipFill>
          <a:blip r:embed="rId3"/>
          <a:stretch>
            <a:fillRect/>
          </a:stretch>
        </p:blipFill>
        <p:spPr>
          <a:xfrm>
            <a:off x="949117" y="4342971"/>
            <a:ext cx="10283118" cy="1773350"/>
          </a:xfrm>
          <a:prstGeom prst="rect">
            <a:avLst/>
          </a:prstGeom>
        </p:spPr>
      </p:pic>
    </p:spTree>
    <p:extLst>
      <p:ext uri="{BB962C8B-B14F-4D97-AF65-F5344CB8AC3E}">
        <p14:creationId xmlns:p14="http://schemas.microsoft.com/office/powerpoint/2010/main" val="20139158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2B391-A28E-2D77-5393-DBF69D25D3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A14B4-C111-FD4B-54DF-9059D70AAB21}"/>
              </a:ext>
            </a:extLst>
          </p:cNvPr>
          <p:cNvSpPr>
            <a:spLocks noGrp="1"/>
          </p:cNvSpPr>
          <p:nvPr>
            <p:ph type="title"/>
          </p:nvPr>
        </p:nvSpPr>
        <p:spPr/>
        <p:txBody>
          <a:bodyPr>
            <a:normAutofit/>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1</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F0244D3C-7B9A-F052-3220-A346E2FD7D68}"/>
              </a:ext>
            </a:extLst>
          </p:cNvPr>
          <p:cNvSpPr>
            <a:spLocks noGrp="1"/>
          </p:cNvSpPr>
          <p:nvPr>
            <p:ph idx="1"/>
          </p:nvPr>
        </p:nvSpPr>
        <p:spPr/>
        <p:txBody>
          <a:bodyPr>
            <a:normAutofit lnSpcReduction="10000"/>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یک عدد و یک کلمه از کاربر گرفته و به تعداد آن عدد، کلمه را تکرار کند.</a:t>
            </a:r>
            <a:endParaRPr lang="en-US" sz="4400" dirty="0">
              <a:latin typeface="IRANSans" panose="02040503050201020203" pitchFamily="18" charset="-78"/>
              <a:cs typeface="IRANSans" panose="02040503050201020203" pitchFamily="18" charset="-78"/>
            </a:endParaRPr>
          </a:p>
          <a:p>
            <a:pPr algn="r" rtl="1">
              <a:lnSpc>
                <a:spcPct val="150000"/>
              </a:lnSpc>
            </a:pPr>
            <a:r>
              <a:rPr lang="en-US" sz="4400" dirty="0">
                <a:latin typeface="IRANSans" panose="02040503050201020203" pitchFamily="18" charset="-78"/>
                <a:cs typeface="IRANSans" panose="02040503050201020203" pitchFamily="18" charset="-78"/>
              </a:rPr>
              <a:t>http://10.18.241.30:3000</a:t>
            </a:r>
            <a:endParaRPr lang="fa-IR" sz="4400"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2132167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D05D5-C1C3-C463-F737-0AE2D53F7C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7B7EC7-73B8-12DB-99F1-AFDC22486D82}"/>
              </a:ext>
            </a:extLst>
          </p:cNvPr>
          <p:cNvSpPr>
            <a:spLocks noGrp="1"/>
          </p:cNvSpPr>
          <p:nvPr>
            <p:ph type="ctrTitle"/>
          </p:nvPr>
        </p:nvSpPr>
        <p:spPr>
          <a:xfrm>
            <a:off x="1381272" y="2885892"/>
            <a:ext cx="9440034" cy="1828801"/>
          </a:xfrm>
        </p:spPr>
        <p:txBody>
          <a:bodyPr>
            <a:normAutofit/>
          </a:bodyPr>
          <a:lstStyle/>
          <a:p>
            <a:pPr rtl="1"/>
            <a:r>
              <a:rPr lang="fa-IR" sz="6600" b="1" dirty="0">
                <a:latin typeface="IRANSans" panose="02040503050201020203" pitchFamily="18" charset="-78"/>
                <a:cs typeface="IRANSans" panose="02040503050201020203" pitchFamily="18" charset="-78"/>
              </a:rPr>
              <a:t>شرط ها در پایتون</a:t>
            </a:r>
            <a:endParaRPr lang="en-US" sz="66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8B9C9248-50C6-CA56-69DE-D5F64CBAD95A}"/>
              </a:ext>
            </a:extLst>
          </p:cNvPr>
          <p:cNvSpPr txBox="1"/>
          <p:nvPr/>
        </p:nvSpPr>
        <p:spPr>
          <a:xfrm>
            <a:off x="1381272" y="5231255"/>
            <a:ext cx="9429456" cy="1061829"/>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6" name="Picture 5">
            <a:extLst>
              <a:ext uri="{FF2B5EF4-FFF2-40B4-BE49-F238E27FC236}">
                <a16:creationId xmlns:a16="http://schemas.microsoft.com/office/drawing/2014/main" id="{68E2971C-4011-AA5B-23C8-3101205BAF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37531" y="452272"/>
            <a:ext cx="2516938" cy="2516938"/>
          </a:xfrm>
          <a:prstGeom prst="rect">
            <a:avLst/>
          </a:prstGeom>
        </p:spPr>
      </p:pic>
    </p:spTree>
    <p:extLst>
      <p:ext uri="{BB962C8B-B14F-4D97-AF65-F5344CB8AC3E}">
        <p14:creationId xmlns:p14="http://schemas.microsoft.com/office/powerpoint/2010/main" val="8400526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4CEEB-A108-9457-8D8B-9A4745236BC3}"/>
              </a:ext>
            </a:extLst>
          </p:cNvPr>
          <p:cNvSpPr>
            <a:spLocks noGrp="1"/>
          </p:cNvSpPr>
          <p:nvPr>
            <p:ph type="title"/>
          </p:nvPr>
        </p:nvSpPr>
        <p:spPr/>
        <p:txBody>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اگر....</a:t>
            </a:r>
            <a:endParaRPr lang="en-US" dirty="0"/>
          </a:p>
        </p:txBody>
      </p:sp>
      <p:pic>
        <p:nvPicPr>
          <p:cNvPr id="10" name="Content Placeholder 9">
            <a:extLst>
              <a:ext uri="{FF2B5EF4-FFF2-40B4-BE49-F238E27FC236}">
                <a16:creationId xmlns:a16="http://schemas.microsoft.com/office/drawing/2014/main" id="{B14A54DE-6E13-9CB9-44E7-ADEC5E74CE9C}"/>
              </a:ext>
            </a:extLst>
          </p:cNvPr>
          <p:cNvPicPr>
            <a:picLocks noGrp="1" noChangeAspect="1"/>
          </p:cNvPicPr>
          <p:nvPr>
            <p:ph idx="1"/>
          </p:nvPr>
        </p:nvPicPr>
        <p:blipFill>
          <a:blip r:embed="rId2"/>
          <a:stretch>
            <a:fillRect/>
          </a:stretch>
        </p:blipFill>
        <p:spPr>
          <a:xfrm>
            <a:off x="792198" y="1809741"/>
            <a:ext cx="10598078" cy="3903682"/>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5079974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1FEBB-A0C9-024F-A949-ADECF7E01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6E58B3-444D-7E53-3D81-9875C654B15F}"/>
              </a:ext>
            </a:extLst>
          </p:cNvPr>
          <p:cNvSpPr>
            <a:spLocks noGrp="1"/>
          </p:cNvSpPr>
          <p:nvPr>
            <p:ph type="title"/>
          </p:nvPr>
        </p:nvSpPr>
        <p:spPr/>
        <p:txBody>
          <a:bodyPr/>
          <a:lstStyle/>
          <a:p>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بررسی سن قانونی</a:t>
            </a:r>
            <a:endParaRPr lang="en-US" dirty="0"/>
          </a:p>
        </p:txBody>
      </p:sp>
      <p:pic>
        <p:nvPicPr>
          <p:cNvPr id="11" name="Content Placeholder 10">
            <a:extLst>
              <a:ext uri="{FF2B5EF4-FFF2-40B4-BE49-F238E27FC236}">
                <a16:creationId xmlns:a16="http://schemas.microsoft.com/office/drawing/2014/main" id="{814EFB47-5F03-53BB-0A36-62BBCAF3D6FF}"/>
              </a:ext>
            </a:extLst>
          </p:cNvPr>
          <p:cNvPicPr>
            <a:picLocks noGrp="1" noChangeAspect="1"/>
          </p:cNvPicPr>
          <p:nvPr>
            <p:ph idx="1"/>
          </p:nvPr>
        </p:nvPicPr>
        <p:blipFill>
          <a:blip r:embed="rId2"/>
          <a:stretch>
            <a:fillRect/>
          </a:stretch>
        </p:blipFill>
        <p:spPr>
          <a:xfrm>
            <a:off x="1173424" y="2245043"/>
            <a:ext cx="9834504" cy="176307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6999611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8DD38-54D2-E988-F697-A8A0A98149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614100-9946-D25F-D1D5-396B8F0C8873}"/>
              </a:ext>
            </a:extLst>
          </p:cNvPr>
          <p:cNvSpPr>
            <a:spLocks noGrp="1"/>
          </p:cNvSpPr>
          <p:nvPr>
            <p:ph type="title"/>
          </p:nvPr>
        </p:nvSpPr>
        <p:spPr/>
        <p:txBody>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در غیر این صورت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else</a:t>
            </a:r>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a:t>
            </a:r>
            <a:endParaRPr lang="en-US" dirty="0"/>
          </a:p>
        </p:txBody>
      </p:sp>
      <p:pic>
        <p:nvPicPr>
          <p:cNvPr id="6" name="Content Placeholder 5">
            <a:extLst>
              <a:ext uri="{FF2B5EF4-FFF2-40B4-BE49-F238E27FC236}">
                <a16:creationId xmlns:a16="http://schemas.microsoft.com/office/drawing/2014/main" id="{ABAB2915-2A18-E6ED-0951-6776EA84CC40}"/>
              </a:ext>
            </a:extLst>
          </p:cNvPr>
          <p:cNvPicPr>
            <a:picLocks noGrp="1" noChangeAspect="1"/>
          </p:cNvPicPr>
          <p:nvPr>
            <p:ph idx="1"/>
          </p:nvPr>
        </p:nvPicPr>
        <p:blipFill>
          <a:blip r:embed="rId2"/>
          <a:stretch>
            <a:fillRect/>
          </a:stretch>
        </p:blipFill>
        <p:spPr>
          <a:xfrm>
            <a:off x="897300" y="1711643"/>
            <a:ext cx="10386752" cy="3287078"/>
          </a:xfrm>
          <a:prstGeom prst="rect">
            <a:avLst/>
          </a:prstGeom>
          <a:effectLst>
            <a:outerShdw blurRad="25400" dir="17880000">
              <a:srgbClr val="000000">
                <a:alpha val="46000"/>
              </a:srgbClr>
            </a:outerShdw>
          </a:effectLst>
        </p:spPr>
      </p:pic>
    </p:spTree>
    <p:extLst>
      <p:ext uri="{BB962C8B-B14F-4D97-AF65-F5344CB8AC3E}">
        <p14:creationId xmlns:p14="http://schemas.microsoft.com/office/powerpoint/2010/main" val="1240079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807DC-7188-C1ED-973B-913EDB665B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A386F6-A789-1A60-AA01-61B20546F555}"/>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a:t>
            </a:r>
            <a:r>
              <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2</a:t>
            </a:r>
          </a:p>
        </p:txBody>
      </p:sp>
      <p:sp>
        <p:nvSpPr>
          <p:cNvPr id="3" name="Content Placeholder 2">
            <a:extLst>
              <a:ext uri="{FF2B5EF4-FFF2-40B4-BE49-F238E27FC236}">
                <a16:creationId xmlns:a16="http://schemas.microsoft.com/office/drawing/2014/main" id="{ADBAC33B-F509-6B61-590A-6ACE953F59C0}"/>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یک عدد از کاربر بگیرد و بگوید مثبت است یا منفی (یا صفر).</a:t>
            </a:r>
            <a:endParaRPr lang="en-US" sz="4400"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2779454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D2E1F-9A59-6D47-2E8A-5F94F46F8B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933F60-86E7-CE29-C9AC-DC4AF4116C81}"/>
              </a:ext>
            </a:extLst>
          </p:cNvPr>
          <p:cNvSpPr>
            <a:spLocks noGrp="1"/>
          </p:cNvSpPr>
          <p:nvPr>
            <p:ph type="title"/>
          </p:nvPr>
        </p:nvSpPr>
        <p:spPr/>
        <p:txBody>
          <a:bodyPr>
            <a:normAutofit/>
          </a:bodyPr>
          <a:lstStyle/>
          <a:p>
            <a:pPr>
              <a:lnSpc>
                <a:spcPct val="150000"/>
              </a:lnSpc>
            </a:pPr>
            <a:r>
              <a:rPr lang="fa-IR" b="1" dirty="0">
                <a:solidFill>
                  <a:srgbClr val="92D050"/>
                </a:solidFill>
                <a:latin typeface="IRANSans" panose="02040503050201020203" pitchFamily="18" charset="-78"/>
                <a:ea typeface="Tahoma" panose="020B0604030504040204" pitchFamily="34" charset="0"/>
                <a:cs typeface="IRANSans" panose="02040503050201020203" pitchFamily="18" charset="-78"/>
              </a:rPr>
              <a:t>تکلیف:</a:t>
            </a:r>
          </a:p>
        </p:txBody>
      </p:sp>
      <p:sp>
        <p:nvSpPr>
          <p:cNvPr id="3" name="Content Placeholder 2">
            <a:extLst>
              <a:ext uri="{FF2B5EF4-FFF2-40B4-BE49-F238E27FC236}">
                <a16:creationId xmlns:a16="http://schemas.microsoft.com/office/drawing/2014/main" id="{BDA28191-86BA-7F43-9871-1429A21537BE}"/>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یک عدد از کاربر بگیرد و بگوید آیا از ۱۰ بزرگ‌تر است یا کوچک‌تر یا مساوی.</a:t>
            </a:r>
          </a:p>
        </p:txBody>
      </p:sp>
    </p:spTree>
    <p:extLst>
      <p:ext uri="{BB962C8B-B14F-4D97-AF65-F5344CB8AC3E}">
        <p14:creationId xmlns:p14="http://schemas.microsoft.com/office/powerpoint/2010/main" val="21451318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03174-2F27-B18D-4541-194BA3456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566EB-0000-15CE-ADD0-7619E05618EF}"/>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4</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D5508799-A924-2357-AF4F-91BB8343837D}"/>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دو عدد از کاربر بگیرد و بگوید آیا برابرند یا نه.</a:t>
            </a:r>
          </a:p>
        </p:txBody>
      </p:sp>
    </p:spTree>
    <p:extLst>
      <p:ext uri="{BB962C8B-B14F-4D97-AF65-F5344CB8AC3E}">
        <p14:creationId xmlns:p14="http://schemas.microsoft.com/office/powerpoint/2010/main" val="42883149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5D919D-2FF0-4526-C99D-7FBC3495BA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D9B4BE-7C10-7229-93E8-B88467D72B10}"/>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5</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0ED39B0F-CC78-5F83-5E0E-ACF11E521048}"/>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نمره‌ای از ۰ تا ۲۰ بگیرد. اگر نمره ۱۰ یا بیشتر بود بنویسد «قبول شدی»  در غیر این صورت بنویسد «مردود شدی».</a:t>
            </a:r>
          </a:p>
        </p:txBody>
      </p:sp>
    </p:spTree>
    <p:extLst>
      <p:ext uri="{BB962C8B-B14F-4D97-AF65-F5344CB8AC3E}">
        <p14:creationId xmlns:p14="http://schemas.microsoft.com/office/powerpoint/2010/main" val="33986339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03157-DA41-8783-63F2-348068368E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345B2-E47B-BF9A-D7D4-490BD4750009}"/>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6</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F8DFB3A7-EAA4-65CA-81FE-5BE6B856CC0A}"/>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برنامه‌ای بنویس که یک عدد از کاربر بگیرد و تشخیص دهد زوج است یا فرد.</a:t>
            </a:r>
          </a:p>
        </p:txBody>
      </p:sp>
    </p:spTree>
    <p:extLst>
      <p:ext uri="{BB962C8B-B14F-4D97-AF65-F5344CB8AC3E}">
        <p14:creationId xmlns:p14="http://schemas.microsoft.com/office/powerpoint/2010/main" val="1766291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761A1-C7DB-31B1-7DF0-9752CC2F9C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F36641-10C4-1368-8528-31EF9E04B2AE}"/>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تمرین 7</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A5C099B0-CCE4-2D11-2F9E-7FF0821B5217}"/>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دو عدد از کاربر بگیرد و بزرگ‌تر را چاپ کند (یا بگوید برابرند).</a:t>
            </a:r>
          </a:p>
        </p:txBody>
      </p:sp>
    </p:spTree>
    <p:extLst>
      <p:ext uri="{BB962C8B-B14F-4D97-AF65-F5344CB8AC3E}">
        <p14:creationId xmlns:p14="http://schemas.microsoft.com/office/powerpoint/2010/main" val="2812748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BC0DF-4C03-2E22-4539-AC81D2DFD0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0575F-5157-9386-DAEE-D889A434F53D}"/>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تکلیف</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0EC9CB1F-7307-1CFC-E2E0-ECCF3403EE53}"/>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برنامه ای بنویسید که عدد </a:t>
            </a:r>
            <a:r>
              <a:rPr lang="en-US" sz="4400" dirty="0">
                <a:latin typeface="IRANSans" panose="02040503050201020203" pitchFamily="18" charset="-78"/>
                <a:cs typeface="IRANSans" panose="02040503050201020203" pitchFamily="18" charset="-78"/>
              </a:rPr>
              <a:t>n</a:t>
            </a:r>
            <a:r>
              <a:rPr lang="fa-IR" sz="4400" dirty="0">
                <a:latin typeface="IRANSans" panose="02040503050201020203" pitchFamily="18" charset="-78"/>
                <a:cs typeface="IRANSans" panose="02040503050201020203" pitchFamily="18" charset="-78"/>
              </a:rPr>
              <a:t> </a:t>
            </a:r>
            <a:r>
              <a:rPr lang="en-US" sz="4400" dirty="0">
                <a:latin typeface="IRANSans" panose="02040503050201020203" pitchFamily="18" charset="-78"/>
                <a:cs typeface="IRANSans" panose="02040503050201020203" pitchFamily="18" charset="-78"/>
              </a:rPr>
              <a:t>)</a:t>
            </a:r>
            <a:r>
              <a:rPr lang="fa-IR" sz="4400" dirty="0">
                <a:latin typeface="IRANSans" panose="02040503050201020203" pitchFamily="18" charset="-78"/>
                <a:cs typeface="IRANSans" panose="02040503050201020203" pitchFamily="18" charset="-78"/>
              </a:rPr>
              <a:t>بین 3 تا 5) را از کاربر بگیرد و یک </a:t>
            </a:r>
            <a:r>
              <a:rPr lang="en-US" sz="4400" dirty="0">
                <a:latin typeface="IRANSans" panose="02040503050201020203" pitchFamily="18" charset="-78"/>
                <a:cs typeface="IRANSans" panose="02040503050201020203" pitchFamily="18" charset="-78"/>
              </a:rPr>
              <a:t>n</a:t>
            </a:r>
            <a:r>
              <a:rPr lang="fa-IR" sz="4400" dirty="0">
                <a:latin typeface="IRANSans" panose="02040503050201020203" pitchFamily="18" charset="-78"/>
                <a:cs typeface="IRANSans" panose="02040503050201020203" pitchFamily="18" charset="-78"/>
              </a:rPr>
              <a:t>ضلعی با استفاده از </a:t>
            </a:r>
            <a:r>
              <a:rPr lang="en-US" sz="4400" dirty="0">
                <a:latin typeface="IRANSans" panose="02040503050201020203" pitchFamily="18" charset="-78"/>
                <a:cs typeface="IRANSans" panose="02040503050201020203" pitchFamily="18" charset="-78"/>
              </a:rPr>
              <a:t>turtle</a:t>
            </a:r>
            <a:r>
              <a:rPr lang="fa-IR" sz="4400" dirty="0">
                <a:latin typeface="IRANSans" panose="02040503050201020203" pitchFamily="18" charset="-78"/>
                <a:cs typeface="IRANSans" panose="02040503050201020203" pitchFamily="18" charset="-78"/>
              </a:rPr>
              <a:t> رسم کند.</a:t>
            </a:r>
          </a:p>
        </p:txBody>
      </p:sp>
    </p:spTree>
    <p:extLst>
      <p:ext uri="{BB962C8B-B14F-4D97-AF65-F5344CB8AC3E}">
        <p14:creationId xmlns:p14="http://schemas.microsoft.com/office/powerpoint/2010/main" val="3687818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34D7C-4ABC-271D-ED5B-83548D1FA3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DE11A-39B3-6EF9-50DB-A643940E88BB}"/>
              </a:ext>
            </a:extLst>
          </p:cNvPr>
          <p:cNvSpPr>
            <a:spLocks noGrp="1"/>
          </p:cNvSpPr>
          <p:nvPr>
            <p:ph type="title"/>
          </p:nvPr>
        </p:nvSpPr>
        <p:spPr/>
        <p:txBody>
          <a:bodyPr>
            <a:normAutofit/>
          </a:bodyPr>
          <a:lstStyle/>
          <a:p>
            <a:pPr rtl="1"/>
            <a:r>
              <a:rPr lang="fa-IR"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rPr>
              <a:t>تکلیف</a:t>
            </a:r>
            <a:endParaRPr lang="en-US" b="1" dirty="0">
              <a:effectLst>
                <a:outerShdw blurRad="38100" dist="38100" dir="2700000" algn="tl">
                  <a:srgbClr val="000000">
                    <a:alpha val="43137"/>
                  </a:srgbClr>
                </a:outerShdw>
              </a:effectLst>
              <a:latin typeface="IRANSans" panose="02040503050201020203" pitchFamily="18" charset="-78"/>
              <a:cs typeface="IRANSans" panose="02040503050201020203" pitchFamily="18" charset="-78"/>
            </a:endParaRPr>
          </a:p>
        </p:txBody>
      </p:sp>
      <p:sp>
        <p:nvSpPr>
          <p:cNvPr id="3" name="Content Placeholder 2">
            <a:extLst>
              <a:ext uri="{FF2B5EF4-FFF2-40B4-BE49-F238E27FC236}">
                <a16:creationId xmlns:a16="http://schemas.microsoft.com/office/drawing/2014/main" id="{61E6B9C2-38A1-A856-BB27-F946BA30E28B}"/>
              </a:ext>
            </a:extLst>
          </p:cNvPr>
          <p:cNvSpPr>
            <a:spLocks noGrp="1"/>
          </p:cNvSpPr>
          <p:nvPr>
            <p:ph idx="1"/>
          </p:nvPr>
        </p:nvSpPr>
        <p:spPr/>
        <p:txBody>
          <a:bodyPr>
            <a:normAutofit/>
          </a:bodyPr>
          <a:lstStyle/>
          <a:p>
            <a:pPr algn="r" rtl="1">
              <a:lnSpc>
                <a:spcPct val="150000"/>
              </a:lnSpc>
            </a:pPr>
            <a:r>
              <a:rPr lang="fa-IR" sz="4400" dirty="0">
                <a:latin typeface="IRANSans" panose="02040503050201020203" pitchFamily="18" charset="-78"/>
                <a:cs typeface="IRANSans" panose="02040503050201020203" pitchFamily="18" charset="-78"/>
              </a:rPr>
              <a:t>یک تاس را شبیه سازی کنید.</a:t>
            </a:r>
          </a:p>
          <a:p>
            <a:pPr algn="r" rtl="1">
              <a:lnSpc>
                <a:spcPct val="150000"/>
              </a:lnSpc>
            </a:pPr>
            <a:r>
              <a:rPr lang="fa-IR" sz="4400" dirty="0">
                <a:latin typeface="IRANSans" panose="02040503050201020203" pitchFamily="18" charset="-78"/>
                <a:cs typeface="IRANSans" panose="02040503050201020203" pitchFamily="18" charset="-78"/>
              </a:rPr>
              <a:t>یک سکه را شبیه سازی کنید.</a:t>
            </a:r>
          </a:p>
        </p:txBody>
      </p:sp>
    </p:spTree>
    <p:extLst>
      <p:ext uri="{BB962C8B-B14F-4D97-AF65-F5344CB8AC3E}">
        <p14:creationId xmlns:p14="http://schemas.microsoft.com/office/powerpoint/2010/main" val="52000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FAF5D-C38F-AC7F-348F-2D29331472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199336-2112-9982-9D57-07EE783F2A9E}"/>
              </a:ext>
            </a:extLst>
          </p:cNvPr>
          <p:cNvSpPr>
            <a:spLocks noGrp="1"/>
          </p:cNvSpPr>
          <p:nvPr>
            <p:ph type="ctrTitle"/>
          </p:nvPr>
        </p:nvSpPr>
        <p:spPr>
          <a:xfrm>
            <a:off x="1370693" y="2240764"/>
            <a:ext cx="9440034" cy="2407442"/>
          </a:xfrm>
        </p:spPr>
        <p:txBody>
          <a:bodyPr>
            <a:normAutofit/>
          </a:bodyPr>
          <a:lstStyle/>
          <a:p>
            <a:pPr rtl="1"/>
            <a:r>
              <a:rPr lang="fa-IR" sz="8000" b="1" dirty="0">
                <a:latin typeface="IRANSans" panose="02040503050201020203" pitchFamily="18" charset="-78"/>
                <a:cs typeface="IRANSans" panose="02040503050201020203" pitchFamily="18" charset="-78"/>
              </a:rPr>
              <a:t>موفق باشید</a:t>
            </a:r>
            <a:endParaRPr lang="en-US" sz="8000" b="1" dirty="0">
              <a:solidFill>
                <a:srgbClr val="92D050"/>
              </a:solidFill>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79CC19DC-A4D1-56F7-08F4-160D5A70FB45}"/>
              </a:ext>
            </a:extLst>
          </p:cNvPr>
          <p:cNvSpPr txBox="1"/>
          <p:nvPr/>
        </p:nvSpPr>
        <p:spPr>
          <a:xfrm>
            <a:off x="1381272" y="5231255"/>
            <a:ext cx="9429456" cy="1061829"/>
          </a:xfrm>
          <a:prstGeom prst="rect">
            <a:avLst/>
          </a:prstGeom>
          <a:noFill/>
        </p:spPr>
        <p:txBody>
          <a:bodyPr wrap="square" rtlCol="0">
            <a:spAutoFit/>
          </a:bodyPr>
          <a:lstStyle/>
          <a:p>
            <a:pPr algn="r" rtl="1">
              <a:lnSpc>
                <a:spcPct val="150000"/>
              </a:lnSpc>
            </a:pPr>
            <a:r>
              <a:rPr lang="fa-IR" sz="2000" dirty="0">
                <a:latin typeface="IRANSans" panose="02040503050201020203" pitchFamily="18" charset="-78"/>
                <a:cs typeface="IRANSans" panose="02040503050201020203" pitchFamily="18" charset="-78"/>
              </a:rPr>
              <a:t>کانال تلگرام: </a:t>
            </a:r>
            <a:r>
              <a:rPr lang="en-US" sz="2000" dirty="0">
                <a:solidFill>
                  <a:srgbClr val="00B0F0"/>
                </a:solidFill>
                <a:latin typeface="IRANSans" panose="02040503050201020203" pitchFamily="18" charset="-78"/>
                <a:cs typeface="IRANSans" panose="02040503050201020203" pitchFamily="18" charset="-78"/>
              </a:rPr>
              <a:t>@att_python</a:t>
            </a:r>
          </a:p>
          <a:p>
            <a:pPr algn="r" rtl="1">
              <a:lnSpc>
                <a:spcPct val="150000"/>
              </a:lnSpc>
            </a:pPr>
            <a:r>
              <a:rPr lang="fa-IR" sz="2400" dirty="0">
                <a:latin typeface="IRANSans" panose="02040503050201020203" pitchFamily="18" charset="-78"/>
                <a:cs typeface="IRANSans" panose="02040503050201020203" pitchFamily="18" charset="-78"/>
              </a:rPr>
              <a:t>شماره تماس: 09336448037</a:t>
            </a:r>
          </a:p>
        </p:txBody>
      </p:sp>
      <p:pic>
        <p:nvPicPr>
          <p:cNvPr id="6" name="Picture 5">
            <a:extLst>
              <a:ext uri="{FF2B5EF4-FFF2-40B4-BE49-F238E27FC236}">
                <a16:creationId xmlns:a16="http://schemas.microsoft.com/office/drawing/2014/main" id="{A04B4FB1-79B5-7FE0-813D-3B30A92B24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37531" y="452272"/>
            <a:ext cx="2516938" cy="2516938"/>
          </a:xfrm>
          <a:prstGeom prst="rect">
            <a:avLst/>
          </a:prstGeom>
        </p:spPr>
      </p:pic>
      <p:sp>
        <p:nvSpPr>
          <p:cNvPr id="7" name="Subtitle 6">
            <a:extLst>
              <a:ext uri="{FF2B5EF4-FFF2-40B4-BE49-F238E27FC236}">
                <a16:creationId xmlns:a16="http://schemas.microsoft.com/office/drawing/2014/main" id="{D89AA7FD-2B55-55E4-A4B1-C1B937315549}"/>
              </a:ext>
            </a:extLst>
          </p:cNvPr>
          <p:cNvSpPr>
            <a:spLocks noGrp="1"/>
          </p:cNvSpPr>
          <p:nvPr>
            <p:ph type="subTitle" idx="1"/>
          </p:nvPr>
        </p:nvSpPr>
        <p:spPr/>
        <p:txBody>
          <a:bodyPr/>
          <a:lstStyle/>
          <a:p>
            <a:r>
              <a:rPr lang="fa-IR" dirty="0"/>
              <a:t> </a:t>
            </a:r>
            <a:endParaRPr lang="en-US" dirty="0"/>
          </a:p>
        </p:txBody>
      </p:sp>
    </p:spTree>
    <p:extLst>
      <p:ext uri="{BB962C8B-B14F-4D97-AF65-F5344CB8AC3E}">
        <p14:creationId xmlns:p14="http://schemas.microsoft.com/office/powerpoint/2010/main" val="41547494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TotalTime>1259</TotalTime>
  <Words>924</Words>
  <Application>Microsoft Office PowerPoint</Application>
  <PresentationFormat>Widescreen</PresentationFormat>
  <Paragraphs>159</Paragraphs>
  <Slides>56</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56</vt:i4>
      </vt:variant>
    </vt:vector>
  </HeadingPairs>
  <TitlesOfParts>
    <vt:vector size="63" baseType="lpstr">
      <vt:lpstr>Calibri</vt:lpstr>
      <vt:lpstr>Calisto MT</vt:lpstr>
      <vt:lpstr>Cambria Math</vt:lpstr>
      <vt:lpstr>IRANSans</vt:lpstr>
      <vt:lpstr>Tahoma</vt:lpstr>
      <vt:lpstr>Wingdings 2</vt:lpstr>
      <vt:lpstr>Slate</vt:lpstr>
      <vt:lpstr>برنامه نویسی به زبان پایتون</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عملگر های محاسباتی</vt:lpstr>
      <vt:lpstr>انواع داده ها</vt:lpstr>
      <vt:lpstr>تمرین 1</vt:lpstr>
      <vt:lpstr>تمرین 2</vt:lpstr>
      <vt:lpstr>عملگر های محاسباتی در رشته ها</vt:lpstr>
      <vt:lpstr>مثال</vt:lpstr>
      <vt:lpstr>کار با کتابخانه turtle</vt:lpstr>
      <vt:lpstr>تمرین 3</vt:lpstr>
      <vt:lpstr>PowerPoint Presentation</vt:lpstr>
      <vt:lpstr>متغیر ها در پایتون</vt:lpstr>
      <vt:lpstr>متغیر ها </vt:lpstr>
      <vt:lpstr>متغیر ها </vt:lpstr>
      <vt:lpstr>متغیر ها </vt:lpstr>
      <vt:lpstr>تمرین 1</vt:lpstr>
      <vt:lpstr>تمرین 2</vt:lpstr>
      <vt:lpstr>تمرین 3</vt:lpstr>
      <vt:lpstr>PowerPoint Presentation</vt:lpstr>
      <vt:lpstr>کلید های میانبر</vt:lpstr>
      <vt:lpstr>PowerPoint Presentation</vt:lpstr>
      <vt:lpstr>PowerPoint Presentation</vt:lpstr>
      <vt:lpstr>PowerPoint Presentation</vt:lpstr>
      <vt:lpstr>PowerPoint Presentation</vt:lpstr>
      <vt:lpstr>PowerPoint Presentation</vt:lpstr>
      <vt:lpstr>گرفتن ورودی در پایتون</vt:lpstr>
      <vt:lpstr>گرفتن رشته از کاربر</vt:lpstr>
      <vt:lpstr>تمرین 1</vt:lpstr>
      <vt:lpstr>شرط ها در پایتون</vt:lpstr>
      <vt:lpstr>اگر....</vt:lpstr>
      <vt:lpstr>بررسی سن قانونی</vt:lpstr>
      <vt:lpstr>در غیر این صورت (else)</vt:lpstr>
      <vt:lpstr>تمرین 2</vt:lpstr>
      <vt:lpstr>تکلیف:</vt:lpstr>
      <vt:lpstr>تمرین 4</vt:lpstr>
      <vt:lpstr>تمرین 5</vt:lpstr>
      <vt:lpstr>تمرین 6</vt:lpstr>
      <vt:lpstr>تمرین 7</vt:lpstr>
      <vt:lpstr>تکلیف</vt:lpstr>
      <vt:lpstr>تکلیف</vt:lpstr>
      <vt:lpstr>موفق باشید</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farhan daemi</dc:creator>
  <cp:lastModifiedBy>farhan daemi</cp:lastModifiedBy>
  <cp:revision>111</cp:revision>
  <dcterms:created xsi:type="dcterms:W3CDTF">2025-09-22T17:48:50Z</dcterms:created>
  <dcterms:modified xsi:type="dcterms:W3CDTF">2025-11-17T21:27:29Z</dcterms:modified>
</cp:coreProperties>
</file>