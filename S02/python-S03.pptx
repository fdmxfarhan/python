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8" r:id="rId2"/>
    <p:sldId id="259" r:id="rId3"/>
    <p:sldId id="308" r:id="rId4"/>
    <p:sldId id="320" r:id="rId5"/>
    <p:sldId id="321" r:id="rId6"/>
    <p:sldId id="322" r:id="rId7"/>
    <p:sldId id="323" r:id="rId8"/>
    <p:sldId id="324" r:id="rId9"/>
    <p:sldId id="32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97" autoAdjust="0"/>
    <p:restoredTop sz="94660"/>
  </p:normalViewPr>
  <p:slideViewPr>
    <p:cSldViewPr snapToGrid="0">
      <p:cViewPr varScale="1">
        <p:scale>
          <a:sx n="94" d="100"/>
          <a:sy n="94" d="100"/>
        </p:scale>
        <p:origin x="51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EF974B-A7E7-4F83-B48F-3417BE9A34E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C752D2-36E0-440B-8BEC-3F2C8D7482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32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752D2-36E0-440B-8BEC-3F2C8D7482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48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194A2-21BA-CA6B-9585-B023E803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D51C2-6928-8DB4-6627-9DC95F4B9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F7329-DEE1-D009-F288-90EE4D95E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34F00-3D17-42D3-FB62-792C942E6E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752D2-36E0-440B-8BEC-3F2C8D7482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497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601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249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45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2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764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07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961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540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60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3417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15902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141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1453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092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100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435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B47A3A2-ECA8-4476-8799-B477369250BE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C989485-DE94-4435-9899-A1C4B6015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358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DECB1-E27A-DCCA-29F1-06C948F89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2240764"/>
            <a:ext cx="9440034" cy="1828801"/>
          </a:xfrm>
        </p:spPr>
        <p:txBody>
          <a:bodyPr>
            <a:normAutofit/>
          </a:bodyPr>
          <a:lstStyle/>
          <a:p>
            <a:pPr rtl="1"/>
            <a:r>
              <a:rPr lang="fa-IR" sz="6600" b="1" dirty="0">
                <a:latin typeface="IRANSans" panose="02040503050201020203" pitchFamily="18" charset="-78"/>
                <a:cs typeface="IRANSans" panose="02040503050201020203" pitchFamily="18" charset="-78"/>
              </a:rPr>
              <a:t>برنامه نویسی به زبان پایتون</a:t>
            </a:r>
            <a:endParaRPr lang="en-US" sz="66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2BE043-FD41-F519-FF34-77BB75E81D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4069563"/>
            <a:ext cx="9440034" cy="1049867"/>
          </a:xfrm>
        </p:spPr>
        <p:txBody>
          <a:bodyPr>
            <a:normAutofit/>
          </a:bodyPr>
          <a:lstStyle/>
          <a:p>
            <a:r>
              <a:rPr lang="fa-IR" sz="2800" b="1" dirty="0">
                <a:solidFill>
                  <a:srgbClr val="92D05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فصل سوم</a:t>
            </a:r>
            <a:endParaRPr lang="en-US" sz="28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530A84-1DF8-073B-20E4-AAF0DA1D3ECC}"/>
              </a:ext>
            </a:extLst>
          </p:cNvPr>
          <p:cNvSpPr txBox="1"/>
          <p:nvPr/>
        </p:nvSpPr>
        <p:spPr>
          <a:xfrm>
            <a:off x="1381272" y="5231255"/>
            <a:ext cx="942945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کانال تلگرام: </a:t>
            </a:r>
            <a:r>
              <a:rPr lang="en-US" sz="2000" dirty="0">
                <a:solidFill>
                  <a:srgbClr val="00B0F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@att_python</a:t>
            </a:r>
          </a:p>
          <a:p>
            <a:pPr algn="r" rtl="1">
              <a:lnSpc>
                <a:spcPct val="150000"/>
              </a:lnSpc>
            </a:pP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کانال بله: </a:t>
            </a:r>
            <a:r>
              <a:rPr lang="en-US" sz="2000" dirty="0">
                <a:solidFill>
                  <a:srgbClr val="00B0F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@python2026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شماره تماس: 09336448037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D6712-3E74-EF91-A874-D79782A60B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531" y="452272"/>
            <a:ext cx="2516938" cy="2516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894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7219-F361-5D1A-6CAB-979AD853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عملگر های شرطی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577825F-D4AD-7EA5-6200-551AD2EFF0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8770411"/>
              </p:ext>
            </p:extLst>
          </p:nvPr>
        </p:nvGraphicFramePr>
        <p:xfrm>
          <a:off x="914400" y="1731963"/>
          <a:ext cx="10353675" cy="38404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451225">
                  <a:extLst>
                    <a:ext uri="{9D8B030D-6E8A-4147-A177-3AD203B41FA5}">
                      <a16:colId xmlns:a16="http://schemas.microsoft.com/office/drawing/2014/main" val="2934540765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3309740010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166428358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عملگر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کاربرد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مثال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717388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en-US" sz="2800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&gt;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بزرگتر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5 &gt; 10 =&gt;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389314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en-US" sz="2800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&lt;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کوچک تر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5 &lt; 5 =&gt;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6728408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en-US" sz="2800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&gt;=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بزرگتر یا مساوی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10 &gt;= 10 =&gt; True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830019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en-US" sz="2800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&lt;=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کوچکتر یا مساوی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10 &lt;= 11 =&gt; True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837093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en-US" sz="2800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==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تساوی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5 == 10 =&gt;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643752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lang="en-US" sz="2800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!=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مخالف</a:t>
                      </a:r>
                      <a:endParaRPr lang="en-US" dirty="0">
                        <a:latin typeface="IRANSans" panose="02040503050201020203" pitchFamily="18" charset="-78"/>
                        <a:cs typeface="IRANSans" panose="02040503050201020203" pitchFamily="18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>
                          <a:latin typeface="IRANSans" panose="02040503050201020203" pitchFamily="18" charset="-78"/>
                          <a:cs typeface="IRANSans" panose="02040503050201020203" pitchFamily="18" charset="-78"/>
                        </a:rPr>
                        <a:t>5 != 10 =&gt; True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54419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3525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D05D5-C1C3-C463-F737-0AE2D53F7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B7EC7-73B8-12DB-99F1-AFDC22486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1272" y="2885892"/>
            <a:ext cx="9440034" cy="1828801"/>
          </a:xfrm>
        </p:spPr>
        <p:txBody>
          <a:bodyPr>
            <a:normAutofit/>
          </a:bodyPr>
          <a:lstStyle/>
          <a:p>
            <a:pPr rtl="1"/>
            <a:r>
              <a:rPr lang="fa-IR" sz="6600" b="1" dirty="0">
                <a:solidFill>
                  <a:srgbClr val="92D05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تمرین های کلاسی</a:t>
            </a:r>
            <a:endParaRPr lang="en-US" sz="66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C9248-50C6-CA56-69DE-D5F64CBAD95A}"/>
              </a:ext>
            </a:extLst>
          </p:cNvPr>
          <p:cNvSpPr txBox="1"/>
          <p:nvPr/>
        </p:nvSpPr>
        <p:spPr>
          <a:xfrm>
            <a:off x="1381272" y="5231255"/>
            <a:ext cx="9429456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کانال تلگرام: </a:t>
            </a:r>
            <a:r>
              <a:rPr lang="en-US" sz="2000" dirty="0">
                <a:solidFill>
                  <a:srgbClr val="00B0F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@att_python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شماره تماس: 09336448037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E2971C-4011-AA5B-23C8-3101205BA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531" y="452272"/>
            <a:ext cx="2516938" cy="2516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052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61A1-C7DB-31B1-7DF0-9752CC2F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6641-10C4-1368-8528-31EF9E04B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1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099B0-CCE4-2D11-2F9E-7FF0821B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برنامه ای بنویسید که اندازه سه ضلع یک مثلث را از کاربر با دستور </a:t>
            </a:r>
            <a:r>
              <a:rPr lang="en-US" sz="4400" dirty="0">
                <a:latin typeface="IRANSans" panose="02040503050201020203" pitchFamily="18" charset="-78"/>
                <a:cs typeface="IRANSans" panose="02040503050201020203" pitchFamily="18" charset="-78"/>
              </a:rPr>
              <a:t>int(input())</a:t>
            </a: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 بگیرد و سپس نوع مثلث را چاپ کند. (متساوی الاضلاع، متساوی الساقین، مختلف الاضلاع)</a:t>
            </a:r>
            <a:endParaRPr lang="en-US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4400" dirty="0">
                <a:latin typeface="IRANSans" panose="02040503050201020203" pitchFamily="18" charset="-78"/>
                <a:cs typeface="IRANSans" panose="02040503050201020203" pitchFamily="18" charset="-78"/>
              </a:rPr>
              <a:t>45.90.72.56:3007</a:t>
            </a:r>
            <a:endParaRPr lang="fa-IR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1274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7F0-3462-5856-8930-1C9FD07F0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D95D-0EC8-9A8A-9FF7-0EF867394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2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C8C1C-021C-7932-77A8-9542C11F9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برنامه ای بنویسید که یک عدد از کاربر بگیرد و بگوید این عدد زوج است یا فرد.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راهنمایی: از عملگر </a:t>
            </a:r>
            <a:r>
              <a:rPr lang="en-US" sz="4400" dirty="0">
                <a:latin typeface="IRANSans" panose="02040503050201020203" pitchFamily="18" charset="-78"/>
                <a:cs typeface="IRANSans" panose="02040503050201020203" pitchFamily="18" charset="-78"/>
              </a:rPr>
              <a:t>%</a:t>
            </a: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 استفاده کنید</a:t>
            </a:r>
            <a:endParaRPr lang="en-US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4400" dirty="0">
                <a:latin typeface="IRANSans" panose="02040503050201020203" pitchFamily="18" charset="-78"/>
                <a:cs typeface="IRANSans" panose="02040503050201020203" pitchFamily="18" charset="-78"/>
              </a:rPr>
              <a:t>45.90.72.56:3007</a:t>
            </a:r>
            <a:endParaRPr lang="fa-IR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ctr" rtl="1">
              <a:lnSpc>
                <a:spcPct val="150000"/>
              </a:lnSpc>
            </a:pPr>
            <a:endParaRPr lang="fa-IR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78660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BB8B-7223-1AD0-CAAC-6676949C2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57520-12E5-4731-F19F-66BC71464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3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C197B-B868-FDC3-DC48-1E78CB243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از کاربر یک رمز بگیر. اگر رمز «1234» بود بنویس «ورود موفق»، وگرنه بنویس «رمز اشتباه است».</a:t>
            </a:r>
            <a:endParaRPr lang="en-US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4400" dirty="0">
                <a:latin typeface="IRANSans" panose="02040503050201020203" pitchFamily="18" charset="-78"/>
                <a:cs typeface="IRANSans" panose="02040503050201020203" pitchFamily="18" charset="-78"/>
              </a:rPr>
              <a:t>45.90.72.56:3007</a:t>
            </a:r>
            <a:endParaRPr lang="fa-IR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  <a:p>
            <a:pPr algn="ctr" rtl="1">
              <a:lnSpc>
                <a:spcPct val="150000"/>
              </a:lnSpc>
            </a:pPr>
            <a:endParaRPr lang="fa-IR" sz="4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82218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8D1C4-DE64-22DB-FC6A-39828286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8B1D6-483F-F55A-79C4-9704898B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4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10845-F124-F73A-3A22-1B38EF68E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دو عدد از کاربر بگیر و چاپ کن کدام بزرگ‌تر است.</a:t>
            </a:r>
          </a:p>
        </p:txBody>
      </p:sp>
    </p:spTree>
    <p:extLst>
      <p:ext uri="{BB962C8B-B14F-4D97-AF65-F5344CB8AC3E}">
        <p14:creationId xmlns:p14="http://schemas.microsoft.com/office/powerpoint/2010/main" val="266169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E168B-D670-7001-11F1-EF6BF7D9E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49D3A-6DD1-6F87-D439-35A7CC1F4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5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54F94-4762-D7E3-176D-EA82F190E6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دمای امروز را از کاربر بگیر: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اگر دما بالاتر از ۳۰ بود بنویس «هوا گرمه»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اگر بین ۲۰ و ۳۰ بود بنویس «هوا عالیه»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اگر کمتر از ۲۰ بود بنویس «هوا سرده»</a:t>
            </a:r>
          </a:p>
        </p:txBody>
      </p:sp>
    </p:spTree>
    <p:extLst>
      <p:ext uri="{BB962C8B-B14F-4D97-AF65-F5344CB8AC3E}">
        <p14:creationId xmlns:p14="http://schemas.microsoft.com/office/powerpoint/2010/main" val="544953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9B860-662A-CBAB-2429-87D51F4A5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5AC10-0896-BFE5-B539-375809C0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 panose="02040503050201020203" pitchFamily="18" charset="-78"/>
                <a:cs typeface="IRANSans" panose="02040503050201020203" pitchFamily="18" charset="-78"/>
              </a:rPr>
              <a:t>تمرین 6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809D7-FEEE-5457-7098-AE9D4FB13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سن کاربر را بگیر: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اگر زیر ۷ سال است → «ورود رایگان»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اگر بین ۷ تا ۱۵ سال → «بلیت نیم‌بها»</a:t>
            </a:r>
          </a:p>
          <a:p>
            <a:pPr algn="ctr" rtl="1">
              <a:lnSpc>
                <a:spcPct val="150000"/>
              </a:lnSpc>
            </a:pPr>
            <a:r>
              <a:rPr lang="fa-IR" sz="4400" dirty="0">
                <a:latin typeface="IRANSans" panose="02040503050201020203" pitchFamily="18" charset="-78"/>
                <a:cs typeface="IRANSans" panose="02040503050201020203" pitchFamily="18" charset="-78"/>
              </a:rPr>
              <a:t>اگر بالای ۱۵ → «بلیت کامل»</a:t>
            </a:r>
          </a:p>
        </p:txBody>
      </p:sp>
    </p:spTree>
    <p:extLst>
      <p:ext uri="{BB962C8B-B14F-4D97-AF65-F5344CB8AC3E}">
        <p14:creationId xmlns:p14="http://schemas.microsoft.com/office/powerpoint/2010/main" val="2579560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AF5D-C38F-AC7F-348F-2D2933147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9336-2112-9982-9D57-07EE783F2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2240764"/>
            <a:ext cx="9440034" cy="2407442"/>
          </a:xfrm>
        </p:spPr>
        <p:txBody>
          <a:bodyPr>
            <a:normAutofit/>
          </a:bodyPr>
          <a:lstStyle/>
          <a:p>
            <a:pPr rtl="1"/>
            <a:r>
              <a:rPr lang="fa-IR" sz="8000" b="1" dirty="0">
                <a:latin typeface="IRANSans" panose="02040503050201020203" pitchFamily="18" charset="-78"/>
                <a:cs typeface="IRANSans" panose="02040503050201020203" pitchFamily="18" charset="-78"/>
              </a:rPr>
              <a:t>موفق باشید</a:t>
            </a:r>
            <a:endParaRPr lang="en-US" sz="8000" b="1" dirty="0">
              <a:solidFill>
                <a:srgbClr val="92D050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CC19DC-A4D1-56F7-08F4-160D5A70FB45}"/>
              </a:ext>
            </a:extLst>
          </p:cNvPr>
          <p:cNvSpPr txBox="1"/>
          <p:nvPr/>
        </p:nvSpPr>
        <p:spPr>
          <a:xfrm>
            <a:off x="1381272" y="5231255"/>
            <a:ext cx="9429456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dirty="0">
                <a:latin typeface="IRANSans" panose="02040503050201020203" pitchFamily="18" charset="-78"/>
                <a:cs typeface="IRANSans" panose="02040503050201020203" pitchFamily="18" charset="-78"/>
              </a:rPr>
              <a:t>کانال تلگرام: </a:t>
            </a:r>
            <a:r>
              <a:rPr lang="en-US" sz="2000" dirty="0">
                <a:solidFill>
                  <a:srgbClr val="00B0F0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@att_python</a:t>
            </a:r>
          </a:p>
          <a:p>
            <a:pPr algn="r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شماره تماس: 09336448037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4B4FB1-79B5-7FE0-813D-3B30A92B2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531" y="452272"/>
            <a:ext cx="2516938" cy="2516938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D89AA7FD-2B55-55E4-A4B1-C1B9373155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a-IR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7494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1211</TotalTime>
  <Words>292</Words>
  <Application>Microsoft Office PowerPoint</Application>
  <PresentationFormat>Widescreen</PresentationFormat>
  <Paragraphs>58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Calisto MT</vt:lpstr>
      <vt:lpstr>IRANSans</vt:lpstr>
      <vt:lpstr>Wingdings 2</vt:lpstr>
      <vt:lpstr>Slate</vt:lpstr>
      <vt:lpstr>برنامه نویسی به زبان پایتون</vt:lpstr>
      <vt:lpstr>عملگر های شرطی</vt:lpstr>
      <vt:lpstr>تمرین های کلاسی</vt:lpstr>
      <vt:lpstr>تمرین 1</vt:lpstr>
      <vt:lpstr>تمرین 2</vt:lpstr>
      <vt:lpstr>تمرین 3</vt:lpstr>
      <vt:lpstr>تمرین 4</vt:lpstr>
      <vt:lpstr>تمرین 5</vt:lpstr>
      <vt:lpstr>تمرین 6</vt:lpstr>
      <vt:lpstr>موفق باشید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farhan daemi</dc:creator>
  <cp:lastModifiedBy>farhan daemi</cp:lastModifiedBy>
  <cp:revision>120</cp:revision>
  <dcterms:created xsi:type="dcterms:W3CDTF">2025-09-22T17:48:50Z</dcterms:created>
  <dcterms:modified xsi:type="dcterms:W3CDTF">2025-11-11T10:11:36Z</dcterms:modified>
</cp:coreProperties>
</file>